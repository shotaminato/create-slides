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表紙。調査日 2026-10-06。基礎レポートと SHD 予測を出典付きでまとめた入門。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RISC-V はオープンな ISA（仕様）。チップでも会社でもない。実装 IP は別コスト。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モジュール方式。RV32/64 の I に拡張を足す。RVA23 は V と H が必須。オープン ISA は無料シリコンではない。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2010 年 Berkeley 開始から 2026 年 RVA23 ハードウェア元年までの主要マイルストーン。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2026年は RVA23 ハードウェア元年。量産 SoC と OS ベースラインが揃い始めた。サーバーとスマホはまだ弱い。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SHD Group 2026年版。出荷数と売上は 2024 年まで実績、2025 年以降は予測。売上は RISC-V を含む SoC 全体の金額。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SHD Group Table 32。RISC-V CPU IP 売上。2024年 2.05億ドル、2031年 19.1億ドル、CAGR 39.7%。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まとめ。ラベルは付けない。1行のみ wrap:false。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FFFE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6BC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F3F1EA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19088"/>
            <a:ext cx="9235440" cy="4389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ja-JP" altLang="en-US" sz="16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調査日 2026-10-06</a:t>
            </a:r>
            <a:endParaRPr lang="ja-JP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429000"/>
            <a:ext cx="502920" cy="91440"/>
          </a:xfrm>
          <a:prstGeom prst="roundRect">
            <a:avLst>
              <a:gd name="adj" fmla="val 500000"/>
            </a:avLst>
          </a:prstGeom>
          <a:solidFill>
            <a:srgbClr val="0B6BCB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endParaRPr lang="ja-JP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E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E8F3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58368"/>
            <a:ext cx="12191695" cy="50292"/>
          </a:xfrm>
          <a:prstGeom prst="rect">
            <a:avLst/>
          </a:prstGeom>
          <a:solidFill>
            <a:srgbClr val="0B6BCB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F3F1EA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" y="6419088"/>
            <a:ext cx="9326880" cy="4389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ja-JP" altLang="en-US" sz="16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RISC-V 入門＆市場動向  ·  2026年10月</a:t>
            </a:r>
            <a:endParaRPr lang="ja-JP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Pr>
        <a:solidFill>
          <a:srgbClr val="FFFE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98480" y="-777240"/>
            <a:ext cx="2377440" cy="2377440"/>
          </a:xfrm>
          <a:prstGeom prst="ellipse">
            <a:avLst/>
          </a:prstGeom>
          <a:solidFill>
            <a:srgbClr val="E8F3FF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endParaRPr lang="ja-JP" dirty="0"/>
          </a:p>
        </p:txBody>
      </p:sp>
      <p:sp>
        <p:nvSpPr>
          <p:cNvPr id="3" name="Shape 1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F3F1E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364224"/>
            <a:ext cx="12191695" cy="54864"/>
          </a:xfrm>
          <a:prstGeom prst="rect">
            <a:avLst/>
          </a:prstGeom>
          <a:solidFill>
            <a:srgbClr val="0B6BCB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" y="6419088"/>
            <a:ext cx="9326880" cy="4389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ja-JP" altLang="en-US" sz="16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RISC-V 入門＆市場動向  ·  2026年10月</a:t>
            </a:r>
            <a:endParaRPr lang="ja-JP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9875520" y="6419088"/>
            <a:ext cx="2011680" cy="4389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ja-JP" altLang="en-US" sz="18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 / 8</a:t>
            </a:r>
            <a:endParaRPr lang="ja-JP" sz="1800" dirty="0"/>
          </a:p>
        </p:txBody>
      </p:sp>
      <p:sp>
        <p:nvSpPr>
          <p:cNvPr id="4" name="Text 1"/>
          <p:cNvSpPr/>
          <p:nvPr/>
        </p:nvSpPr>
        <p:spPr>
          <a:xfrm>
            <a:off x="640080" y="1965960"/>
            <a:ext cx="1051560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ja-JP" altLang="en-US" sz="40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RISC-V 入門＆市場動向（2026年10月）</a:t>
            </a:r>
            <a:endParaRPr lang="ja-JP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703320"/>
            <a:ext cx="109728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ja-JP" altLang="en-US" sz="2200" dirty="0">
                <a:solidFill>
                  <a:srgbClr val="0B6BC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基礎からSHD予測まで／出典付き</a:t>
            </a:r>
            <a:endParaRPr lang="ja-JP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9875520" y="6419088"/>
            <a:ext cx="2011680" cy="4389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ja-JP" altLang="en-US" sz="18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ja-JP" sz="1800" dirty="0"/>
          </a:p>
        </p:txBody>
      </p:sp>
      <p:sp>
        <p:nvSpPr>
          <p:cNvPr id="4" name="Text 1"/>
          <p:cNvSpPr/>
          <p:nvPr/>
        </p:nvSpPr>
        <p:spPr>
          <a:xfrm>
            <a:off x="411480" y="36576"/>
            <a:ext cx="11338560" cy="5852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ja-JP" altLang="en-US" sz="28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RISC-Vは「オープンなISA（仕様）」</a:t>
            </a:r>
            <a:endParaRPr lang="ja-JP" sz="2800" dirty="0"/>
          </a:p>
        </p:txBody>
      </p:sp>
      <p:sp>
        <p:nvSpPr>
          <p:cNvPr id="5" name="Text 2"/>
          <p:cNvSpPr/>
          <p:nvPr/>
        </p:nvSpPr>
        <p:spPr>
          <a:xfrm>
            <a:off x="365760" y="822960"/>
            <a:ext cx="521208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3970">
            <a:solidFill>
              <a:srgbClr val="C5CDD6"/>
            </a:solidFill>
          </a:ln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ja-JP" altLang="en-US" sz="18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チップでも会社でもない</a:t>
            </a:r>
            <a:endParaRPr lang="ja-JP" sz="1800" dirty="0"/>
          </a:p>
          <a:p>
            <a:pPr algn="l" indent="0" marL="0">
              <a:buNone/>
            </a:pPr>
            <a:r>
              <a:rPr lang="ja-JP" altLang="en-US" sz="18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ソフトウェアと CPU の「約束事」。</a:t>
            </a:r>
            <a:endParaRPr lang="ja-JP" sz="1800" dirty="0"/>
          </a:p>
        </p:txBody>
      </p:sp>
      <p:sp>
        <p:nvSpPr>
          <p:cNvPr id="6" name="Text 3"/>
          <p:cNvSpPr/>
          <p:nvPr/>
        </p:nvSpPr>
        <p:spPr>
          <a:xfrm>
            <a:off x="365760" y="2176272"/>
            <a:ext cx="521208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3970">
            <a:solidFill>
              <a:srgbClr val="C5CDD6"/>
            </a:solidFill>
          </a:ln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ja-JP" altLang="en-US" sz="18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仕様はロイヤリティフリー</a:t>
            </a:r>
            <a:endParaRPr lang="ja-JP" sz="1800" dirty="0"/>
          </a:p>
          <a:p>
            <a:pPr algn="l" indent="0" marL="0">
              <a:buNone/>
            </a:pPr>
            <a:r>
              <a:rPr lang="ja-JP" altLang="en-US" sz="18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実装 IP・検証・製造は別コスト。</a:t>
            </a:r>
            <a:endParaRPr lang="ja-JP" sz="1800" dirty="0"/>
          </a:p>
        </p:txBody>
      </p:sp>
      <p:sp>
        <p:nvSpPr>
          <p:cNvPr id="7" name="Text 4"/>
          <p:cNvSpPr/>
          <p:nvPr/>
        </p:nvSpPr>
        <p:spPr>
          <a:xfrm>
            <a:off x="365760" y="3529584"/>
            <a:ext cx="521208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3970">
            <a:solidFill>
              <a:srgbClr val="C5CDD6"/>
            </a:solidFill>
          </a:ln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ja-JP" altLang="en-US" sz="18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2010 Berkeley → 2020 RVI</a:t>
            </a:r>
            <a:endParaRPr lang="ja-JP" sz="1800" dirty="0"/>
          </a:p>
          <a:p>
            <a:pPr algn="l" indent="0" marL="0">
              <a:buNone/>
            </a:pPr>
            <a:r>
              <a:rPr lang="ja-JP" altLang="en-US" sz="18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標準団体はチップを作らない。</a:t>
            </a:r>
            <a:endParaRPr lang="ja-JP" sz="1800" dirty="0"/>
          </a:p>
        </p:txBody>
      </p:sp>
      <p:sp>
        <p:nvSpPr>
          <p:cNvPr id="8" name="Text 5"/>
          <p:cNvSpPr/>
          <p:nvPr/>
        </p:nvSpPr>
        <p:spPr>
          <a:xfrm>
            <a:off x="365760" y="4882896"/>
            <a:ext cx="521208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3970">
            <a:solidFill>
              <a:srgbClr val="C5CDD6"/>
            </a:solidFill>
          </a:ln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ja-JP" altLang="en-US" sz="18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強みは自由度。弱みは高性能の実績</a:t>
            </a:r>
            <a:endParaRPr lang="ja-JP" sz="1800" dirty="0"/>
          </a:p>
          <a:p>
            <a:pPr algn="l" indent="0" marL="0">
              <a:buNone/>
            </a:pPr>
            <a:r>
              <a:rPr lang="ja-JP" altLang="en-US" sz="18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と断片化リスク。</a:t>
            </a:r>
            <a:endParaRPr lang="ja-JP" sz="1800" dirty="0"/>
          </a:p>
        </p:txBody>
      </p:sp>
      <p:pic>
        <p:nvPicPr>
          <p:cNvPr id="9" name="Image 0" descr="RISC-V と Arm のライセンスモデル比較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715000" y="822960"/>
            <a:ext cx="612648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9875520" y="6419088"/>
            <a:ext cx="2011680" cy="4389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ja-JP" altLang="en-US" sz="18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ja-JP" sz="1800" dirty="0"/>
          </a:p>
        </p:txBody>
      </p:sp>
      <p:sp>
        <p:nvSpPr>
          <p:cNvPr id="4" name="Text 1"/>
          <p:cNvSpPr/>
          <p:nvPr/>
        </p:nvSpPr>
        <p:spPr>
          <a:xfrm>
            <a:off x="411480" y="36576"/>
            <a:ext cx="11338560" cy="5852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ja-JP" altLang="en-US" sz="28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基本ISA＋拡張＋プロファイル</a:t>
            </a:r>
            <a:endParaRPr lang="ja-JP" sz="2800" dirty="0"/>
          </a:p>
        </p:txBody>
      </p:sp>
      <p:sp>
        <p:nvSpPr>
          <p:cNvPr id="5" name="Text 2"/>
          <p:cNvSpPr/>
          <p:nvPr/>
        </p:nvSpPr>
        <p:spPr>
          <a:xfrm>
            <a:off x="365760" y="804672"/>
            <a:ext cx="370332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3970">
            <a:solidFill>
              <a:srgbClr val="C5CDD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8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RV32/64 の I に</a:t>
            </a:r>
            <a:endParaRPr lang="ja-JP" sz="1800" dirty="0"/>
          </a:p>
          <a:p>
            <a:pPr algn="ctr" indent="0" marL="0">
              <a:buNone/>
            </a:pPr>
            <a:r>
              <a:rPr lang="ja-JP" altLang="en-US" sz="18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M / A / F / D / C / V を足す</a:t>
            </a:r>
            <a:endParaRPr lang="ja-JP" sz="1800" dirty="0"/>
          </a:p>
        </p:txBody>
      </p:sp>
      <p:sp>
        <p:nvSpPr>
          <p:cNvPr id="6" name="Text 3"/>
          <p:cNvSpPr/>
          <p:nvPr/>
        </p:nvSpPr>
        <p:spPr>
          <a:xfrm>
            <a:off x="4206240" y="804672"/>
            <a:ext cx="370332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3970">
            <a:solidFill>
              <a:srgbClr val="C5CDD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8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RVA23（2024-10 批准）</a:t>
            </a:r>
            <a:endParaRPr lang="ja-JP" sz="1800" dirty="0"/>
          </a:p>
          <a:p>
            <a:pPr algn="ctr" indent="0" marL="0">
              <a:buNone/>
            </a:pPr>
            <a:r>
              <a:rPr lang="ja-JP" altLang="en-US" sz="18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V と H が必須</a:t>
            </a:r>
            <a:endParaRPr lang="ja-JP" sz="1800" dirty="0"/>
          </a:p>
        </p:txBody>
      </p:sp>
      <p:sp>
        <p:nvSpPr>
          <p:cNvPr id="7" name="Text 4"/>
          <p:cNvSpPr/>
          <p:nvPr/>
        </p:nvSpPr>
        <p:spPr>
          <a:xfrm>
            <a:off x="8046720" y="804672"/>
            <a:ext cx="374904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3970">
            <a:solidFill>
              <a:srgbClr val="C5CDD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8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オープンISA ≠ 無償シリコン</a:t>
            </a:r>
            <a:endParaRPr lang="ja-JP" sz="1800" dirty="0"/>
          </a:p>
          <a:p>
            <a:pPr algn="ctr" indent="0" marL="0">
              <a:buNone/>
            </a:pPr>
            <a:r>
              <a:rPr lang="ja-JP" altLang="en-US" sz="18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コアは IP／OSS／自社設計</a:t>
            </a:r>
            <a:endParaRPr lang="ja-JP" sz="1800" dirty="0"/>
          </a:p>
        </p:txBody>
      </p:sp>
      <p:pic>
        <p:nvPicPr>
          <p:cNvPr id="8" name="Image 0" descr="RISC-V ISA の構成。基本命令セット、標準拡張、プロファイル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280160" y="2240280"/>
            <a:ext cx="9601200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9875520" y="6419088"/>
            <a:ext cx="2011680" cy="4389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ja-JP" altLang="en-US" sz="18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ja-JP" sz="1800" dirty="0"/>
          </a:p>
        </p:txBody>
      </p:sp>
      <p:sp>
        <p:nvSpPr>
          <p:cNvPr id="4" name="Text 1"/>
          <p:cNvSpPr/>
          <p:nvPr/>
        </p:nvSpPr>
        <p:spPr>
          <a:xfrm>
            <a:off x="411480" y="36576"/>
            <a:ext cx="11338560" cy="5852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ja-JP" altLang="en-US" sz="28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2010→2026 マイルストーン</a:t>
            </a:r>
            <a:endParaRPr lang="ja-JP" sz="2800" dirty="0"/>
          </a:p>
        </p:txBody>
      </p:sp>
      <p:sp>
        <p:nvSpPr>
          <p:cNvPr id="5" name="Text 2"/>
          <p:cNvSpPr/>
          <p:nvPr/>
        </p:nvSpPr>
        <p:spPr>
          <a:xfrm>
            <a:off x="365760" y="786384"/>
            <a:ext cx="370332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3970">
            <a:solidFill>
              <a:srgbClr val="C5CDD6"/>
            </a:solidFill>
          </a:ln>
        </p:spPr>
        <p:txBody>
          <a:bodyPr wrap="non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2010 Berkeley ／ 2015 Foundation</a:t>
            </a:r>
            <a:endParaRPr lang="ja-JP" sz="1600" dirty="0"/>
          </a:p>
        </p:txBody>
      </p:sp>
      <p:sp>
        <p:nvSpPr>
          <p:cNvPr id="6" name="Text 3"/>
          <p:cNvSpPr/>
          <p:nvPr/>
        </p:nvSpPr>
        <p:spPr>
          <a:xfrm>
            <a:off x="4206240" y="786384"/>
            <a:ext cx="370332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3970">
            <a:solidFill>
              <a:srgbClr val="C5CDD6"/>
            </a:solidFill>
          </a:ln>
        </p:spPr>
        <p:txBody>
          <a:bodyPr wrap="non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2020 RVI ／ 2024 RVA23 批准</a:t>
            </a:r>
            <a:endParaRPr lang="ja-JP" sz="1600" dirty="0"/>
          </a:p>
        </p:txBody>
      </p:sp>
      <p:sp>
        <p:nvSpPr>
          <p:cNvPr id="7" name="Text 4"/>
          <p:cNvSpPr/>
          <p:nvPr/>
        </p:nvSpPr>
        <p:spPr>
          <a:xfrm>
            <a:off x="8046720" y="786384"/>
            <a:ext cx="37490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3970">
            <a:solidFill>
              <a:srgbClr val="C5CDD6"/>
            </a:solidFill>
          </a:ln>
        </p:spPr>
        <p:txBody>
          <a:bodyPr wrap="non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 K3 出荷・Ubuntu 26.04 LTS</a:t>
            </a:r>
            <a:endParaRPr lang="ja-JP" sz="1600" dirty="0"/>
          </a:p>
        </p:txBody>
      </p:sp>
      <p:pic>
        <p:nvPicPr>
          <p:cNvPr id="8" name="Image 0" descr="RISC-V 年表（2010→2026）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691640"/>
            <a:ext cx="11430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9875520" y="6419088"/>
            <a:ext cx="2011680" cy="4389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ja-JP" altLang="en-US" sz="18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ja-JP" sz="1800" dirty="0"/>
          </a:p>
        </p:txBody>
      </p:sp>
      <p:sp>
        <p:nvSpPr>
          <p:cNvPr id="4" name="Text 1"/>
          <p:cNvSpPr/>
          <p:nvPr/>
        </p:nvSpPr>
        <p:spPr>
          <a:xfrm>
            <a:off x="411480" y="36576"/>
            <a:ext cx="11338560" cy="5852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ja-JP" altLang="en-US" sz="28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2026年＝RVA23ハードウェア元年</a:t>
            </a:r>
            <a:endParaRPr lang="ja-JP" sz="2800" dirty="0"/>
          </a:p>
        </p:txBody>
      </p:sp>
      <p:sp>
        <p:nvSpPr>
          <p:cNvPr id="5" name="Text 2"/>
          <p:cNvSpPr/>
          <p:nvPr/>
        </p:nvSpPr>
        <p:spPr>
          <a:xfrm>
            <a:off x="365760" y="868680"/>
            <a:ext cx="5623560" cy="246888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3970">
            <a:solidFill>
              <a:srgbClr val="C5CDD6"/>
            </a:solidFill>
          </a:ln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ja-JP" altLang="en-US" sz="18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量産 RVA23 SoC</a:t>
            </a:r>
            <a:endParaRPr lang="ja-JP" sz="1800" dirty="0"/>
          </a:p>
          <a:p>
            <a:pPr algn="l" indent="0" marL="0">
              <a:buNone/>
            </a:pPr>
            <a:r>
              <a:rPr lang="ja-JP" altLang="en-US" sz="18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SpacemiT K3 が出荷（2026-04）。</a:t>
            </a:r>
            <a:endParaRPr lang="ja-JP" sz="1800" dirty="0"/>
          </a:p>
          <a:p>
            <a:pPr algn="l" indent="0" marL="0">
              <a:buNone/>
            </a:pPr>
            <a:r>
              <a:rPr lang="ja-JP" altLang="en-US" sz="18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Ubuntu 26.04 LTS が RVA23 を必須ベースラインにした初の主要 LTS。</a:t>
            </a:r>
            <a:endParaRPr lang="ja-JP" sz="1800" dirty="0"/>
          </a:p>
        </p:txBody>
      </p:sp>
      <p:sp>
        <p:nvSpPr>
          <p:cNvPr id="6" name="Text 3"/>
          <p:cNvSpPr/>
          <p:nvPr/>
        </p:nvSpPr>
        <p:spPr>
          <a:xfrm>
            <a:off x="6172200" y="868680"/>
            <a:ext cx="5623560" cy="246888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3970">
            <a:solidFill>
              <a:srgbClr val="C5CDD6"/>
            </a:solidFill>
          </a:ln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ja-JP" altLang="en-US" sz="18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CUDA on RISC-V</a:t>
            </a:r>
            <a:endParaRPr lang="ja-JP" sz="1800" dirty="0"/>
          </a:p>
          <a:p>
            <a:pPr algn="l" indent="0" marL="0">
              <a:buNone/>
            </a:pPr>
            <a:r>
              <a:rPr lang="ja-JP" altLang="en-US" sz="18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NVIDIA がホスト対応を表明。</a:t>
            </a:r>
            <a:endParaRPr lang="ja-JP" sz="1800" dirty="0"/>
          </a:p>
          <a:p>
            <a:pPr algn="l" indent="0" marL="0">
              <a:buNone/>
            </a:pPr>
            <a:r>
              <a:rPr lang="ja-JP" altLang="en-US" sz="18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2026-08、SiFive BigSky 上で CUDA が動作。</a:t>
            </a:r>
            <a:endParaRPr lang="ja-JP" sz="1800" dirty="0"/>
          </a:p>
        </p:txBody>
      </p:sp>
      <p:sp>
        <p:nvSpPr>
          <p:cNvPr id="7" name="Text 4"/>
          <p:cNvSpPr/>
          <p:nvPr/>
        </p:nvSpPr>
        <p:spPr>
          <a:xfrm>
            <a:off x="365760" y="3520440"/>
            <a:ext cx="562356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3970">
            <a:solidFill>
              <a:srgbClr val="C5CDD6"/>
            </a:solidFill>
          </a:ln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ja-JP" altLang="en-US" sz="18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資金と買収</a:t>
            </a:r>
            <a:endParaRPr lang="ja-JP" sz="1800" dirty="0"/>
          </a:p>
          <a:p>
            <a:pPr algn="l" indent="0" marL="0">
              <a:buNone/>
            </a:pPr>
            <a:r>
              <a:rPr lang="ja-JP" altLang="en-US" sz="18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Qualcomm が Ventana を買収（2025-12）。</a:t>
            </a:r>
            <a:endParaRPr lang="ja-JP" sz="1800" dirty="0"/>
          </a:p>
          <a:p>
            <a:pPr algn="l" indent="0" marL="0">
              <a:buNone/>
            </a:pPr>
            <a:r>
              <a:rPr lang="ja-JP" altLang="en-US" sz="18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SiFive は評価額約 36.5 億ドル（2026-04）。</a:t>
            </a:r>
            <a:endParaRPr lang="ja-JP" sz="1800" dirty="0"/>
          </a:p>
        </p:txBody>
      </p:sp>
      <p:sp>
        <p:nvSpPr>
          <p:cNvPr id="8" name="Text 5"/>
          <p:cNvSpPr/>
          <p:nvPr/>
        </p:nvSpPr>
        <p:spPr>
          <a:xfrm>
            <a:off x="6172200" y="3520440"/>
            <a:ext cx="5623560" cy="2606040"/>
          </a:xfrm>
          <a:prstGeom prst="roundRect">
            <a:avLst>
              <a:gd name="adj" fmla="val 4211"/>
            </a:avLst>
          </a:prstGeom>
          <a:solidFill>
            <a:srgbClr val="E8F3FF"/>
          </a:solidFill>
          <a:ln w="15240">
            <a:solidFill>
              <a:srgbClr val="0B6BCB"/>
            </a:solidFill>
          </a:ln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ja-JP" altLang="en-US" sz="18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まだ弱いところ</a:t>
            </a:r>
            <a:endParaRPr lang="ja-JP" sz="1800" dirty="0"/>
          </a:p>
          <a:p>
            <a:pPr algn="l" indent="0" marL="0">
              <a:buNone/>
            </a:pPr>
            <a:r>
              <a:rPr lang="ja-JP" altLang="en-US" sz="18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Android の NDK ABI は未確定。</a:t>
            </a:r>
            <a:endParaRPr lang="ja-JP" sz="1800" dirty="0"/>
          </a:p>
          <a:p>
            <a:pPr algn="l" indent="0" marL="0">
              <a:buNone/>
            </a:pPr>
            <a:r>
              <a:rPr lang="ja-JP" altLang="en-US" sz="18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汎用サーバーの量産展開は黎明期。</a:t>
            </a:r>
            <a:endParaRPr lang="ja-JP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9875520" y="6419088"/>
            <a:ext cx="2011680" cy="4389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ja-JP" altLang="en-US" sz="18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ja-JP" sz="1800" dirty="0"/>
          </a:p>
        </p:txBody>
      </p:sp>
      <p:sp>
        <p:nvSpPr>
          <p:cNvPr id="4" name="Text 1"/>
          <p:cNvSpPr/>
          <p:nvPr/>
        </p:nvSpPr>
        <p:spPr>
          <a:xfrm>
            <a:off x="411480" y="36576"/>
            <a:ext cx="7680960" cy="5852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ja-JP" altLang="en-US" sz="26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RISC-V市場予測（SHD Group 2026）</a:t>
            </a:r>
            <a:endParaRPr lang="ja-JP" sz="2600" dirty="0"/>
          </a:p>
        </p:txBody>
      </p:sp>
      <p:sp>
        <p:nvSpPr>
          <p:cNvPr id="5" name="Text 2"/>
          <p:cNvSpPr/>
          <p:nvPr/>
        </p:nvSpPr>
        <p:spPr>
          <a:xfrm>
            <a:off x="7955280" y="73152"/>
            <a:ext cx="3840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ja-JP" altLang="en-US" sz="16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実績〜2024 ／ 予測2025〜</a:t>
            </a:r>
            <a:endParaRPr lang="ja-JP" sz="1600" dirty="0"/>
          </a:p>
        </p:txBody>
      </p:sp>
      <p:sp>
        <p:nvSpPr>
          <p:cNvPr id="6" name="Text 3"/>
          <p:cNvSpPr/>
          <p:nvPr/>
        </p:nvSpPr>
        <p:spPr>
          <a:xfrm>
            <a:off x="365760" y="749808"/>
            <a:ext cx="37033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2031年 出荷 360億個</a:t>
            </a:r>
            <a:endParaRPr lang="ja-JP" sz="1600" dirty="0"/>
          </a:p>
          <a:p>
            <a:pPr algn="ctr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CAGR 31.7%</a:t>
            </a:r>
            <a:endParaRPr lang="ja-JP" sz="1600" dirty="0"/>
          </a:p>
        </p:txBody>
      </p:sp>
      <p:sp>
        <p:nvSpPr>
          <p:cNvPr id="7" name="Text 4"/>
          <p:cNvSpPr/>
          <p:nvPr/>
        </p:nvSpPr>
        <p:spPr>
          <a:xfrm>
            <a:off x="4206240" y="749808"/>
            <a:ext cx="37033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2031年 売上 3,180億ドル</a:t>
            </a:r>
            <a:endParaRPr lang="ja-JP" sz="1600" dirty="0"/>
          </a:p>
          <a:p>
            <a:pPr algn="ctr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CAGR 22.5%</a:t>
            </a:r>
            <a:endParaRPr lang="ja-JP" sz="1600" dirty="0"/>
          </a:p>
        </p:txBody>
      </p:sp>
      <p:sp>
        <p:nvSpPr>
          <p:cNvPr id="8" name="Text 5"/>
          <p:cNvSpPr/>
          <p:nvPr/>
        </p:nvSpPr>
        <p:spPr>
          <a:xfrm>
            <a:off x="8046720" y="749808"/>
            <a:ext cx="37490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普及率 約33%</a:t>
            </a:r>
            <a:endParaRPr lang="ja-JP" sz="1600" dirty="0"/>
          </a:p>
          <a:p>
            <a:pPr algn="ctr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SoC全体の金額に注意</a:t>
            </a:r>
            <a:endParaRPr lang="ja-JP" sz="1600" dirty="0"/>
          </a:p>
        </p:txBody>
      </p:sp>
      <p:pic>
        <p:nvPicPr>
          <p:cNvPr id="9" name="Image 0" descr="RISC-V搭載SoCの出荷数と普及率（2022〜2031）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" y="1719072"/>
            <a:ext cx="5760720" cy="4114800"/>
          </a:xfrm>
          <a:prstGeom prst="rect">
            <a:avLst/>
          </a:prstGeom>
        </p:spPr>
      </p:pic>
      <p:pic>
        <p:nvPicPr>
          <p:cNvPr id="10" name="Image 1" descr="RISC-V搭載SoCの売上と普及率（2022〜2031）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26480" y="1719072"/>
            <a:ext cx="5760720" cy="411480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ja-JP" altLang="en-US" sz="16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SHD102-26 Abridged, April 2026, Tables 13–14（公開数値から再作図）</a:t>
            </a:r>
            <a:endParaRPr lang="ja-JP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9875520" y="6419088"/>
            <a:ext cx="2011680" cy="4389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ja-JP" altLang="en-US" sz="18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ja-JP" sz="1800" dirty="0"/>
          </a:p>
        </p:txBody>
      </p:sp>
      <p:sp>
        <p:nvSpPr>
          <p:cNvPr id="4" name="Text 1"/>
          <p:cNvSpPr/>
          <p:nvPr/>
        </p:nvSpPr>
        <p:spPr>
          <a:xfrm>
            <a:off x="411480" y="36576"/>
            <a:ext cx="7772400" cy="5852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ja-JP" altLang="en-US" sz="28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RISC-V CPU IP売上予測</a:t>
            </a:r>
            <a:endParaRPr lang="ja-JP" sz="2800" dirty="0"/>
          </a:p>
        </p:txBody>
      </p:sp>
      <p:sp>
        <p:nvSpPr>
          <p:cNvPr id="5" name="Text 2"/>
          <p:cNvSpPr/>
          <p:nvPr/>
        </p:nvSpPr>
        <p:spPr>
          <a:xfrm>
            <a:off x="7955280" y="73152"/>
            <a:ext cx="3840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ja-JP" altLang="en-US" sz="1800" dirty="0">
                <a:solidFill>
                  <a:srgbClr val="0B6BC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2024 $205M → 2031 $1.91B</a:t>
            </a:r>
            <a:endParaRPr lang="ja-JP" sz="1800" dirty="0"/>
          </a:p>
        </p:txBody>
      </p:sp>
      <p:sp>
        <p:nvSpPr>
          <p:cNvPr id="6" name="Text 3"/>
          <p:cNvSpPr/>
          <p:nvPr/>
        </p:nvSpPr>
        <p:spPr>
          <a:xfrm>
            <a:off x="365760" y="777240"/>
            <a:ext cx="370332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txBody>
          <a:bodyPr wrap="non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2024年  2.05億ドル（実績）</a:t>
            </a:r>
            <a:endParaRPr lang="ja-JP" sz="1600" dirty="0"/>
          </a:p>
        </p:txBody>
      </p:sp>
      <p:sp>
        <p:nvSpPr>
          <p:cNvPr id="7" name="Text 4"/>
          <p:cNvSpPr/>
          <p:nvPr/>
        </p:nvSpPr>
        <p:spPr>
          <a:xfrm>
            <a:off x="4206240" y="777240"/>
            <a:ext cx="370332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txBody>
          <a:bodyPr wrap="non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2031年  19.1億ドル（予測）</a:t>
            </a:r>
            <a:endParaRPr lang="ja-JP" sz="1600" dirty="0"/>
          </a:p>
        </p:txBody>
      </p:sp>
      <p:sp>
        <p:nvSpPr>
          <p:cNvPr id="8" name="Text 5"/>
          <p:cNvSpPr/>
          <p:nvPr/>
        </p:nvSpPr>
        <p:spPr>
          <a:xfrm>
            <a:off x="8046720" y="777240"/>
            <a:ext cx="37490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txBody>
          <a:bodyPr wrap="non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CAGR 39.7%（2025–31）</a:t>
            </a:r>
            <a:endParaRPr lang="ja-JP" sz="1600" dirty="0"/>
          </a:p>
        </p:txBody>
      </p:sp>
      <p:pic>
        <p:nvPicPr>
          <p:cNvPr id="9" name="Image 0" descr="RISC-V CPU IP 市場売上の内訳（2022〜2031）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51560" y="1536192"/>
            <a:ext cx="10058400" cy="443484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11480" y="6016752"/>
            <a:ext cx="11338560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ja-JP" altLang="en-US" sz="16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SHD102-26 Abridged, April 2026, Table 32（公開数値から再作図）</a:t>
            </a:r>
            <a:endParaRPr lang="ja-JP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9875520" y="6419088"/>
            <a:ext cx="2011680" cy="4389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ja-JP" altLang="en-US" sz="18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ja-JP" sz="1800" dirty="0"/>
          </a:p>
        </p:txBody>
      </p:sp>
      <p:sp>
        <p:nvSpPr>
          <p:cNvPr id="4" name="Text 1"/>
          <p:cNvSpPr/>
          <p:nvPr/>
        </p:nvSpPr>
        <p:spPr>
          <a:xfrm>
            <a:off x="292608" y="2788920"/>
            <a:ext cx="11612880" cy="1133856"/>
          </a:xfrm>
          <a:prstGeom prst="roundRect">
            <a:avLst>
              <a:gd name="adj" fmla="val 9677"/>
            </a:avLst>
          </a:prstGeom>
          <a:solidFill>
            <a:srgbClr val="E8F3FF"/>
          </a:solidFill>
          <a:ln w="27940">
            <a:solidFill>
              <a:srgbClr val="1B365D"/>
            </a:solidFill>
          </a:ln>
        </p:spPr>
        <p:txBody>
          <a:bodyPr wrap="non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600" b="1" dirty="0">
                <a:solidFill>
                  <a:srgbClr val="1B365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2026年、RISC-VはRVA23実機とAIで成長期へ。ただしオープンISA≠無償シリコン、対Armはこれから。</a:t>
            </a:r>
            <a:endParaRPr lang="ja-JP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RISC-V 入門＆市場動向（2026年10月）</dc:title>
  <dc:subject>基礎からSHD予測まで／出典付き</dc:subject>
  <dc:creator>create-slides</dc:creator>
  <cp:lastModifiedBy>create-slides</cp:lastModifiedBy>
  <cp:revision>1</cp:revision>
  <dcterms:created xsi:type="dcterms:W3CDTF">2026-10-06T12:32:30Z</dcterms:created>
  <dcterms:modified xsi:type="dcterms:W3CDTF">2026-10-06T12:32:30Z</dcterms:modified>
</cp:coreProperties>
</file>