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表紙。RISC-V は UC Berkeley 発のオープン ISA。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は命令セットのオープン標準。実装のライセンスとは独立。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設計方針。遅延スロットや条件コードは持たない。ベースは凍結。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RV32I / RV64I が主。x0 はゼロ。整数レジスタは 32 本（RV32E は 16 本）。半透明シェイプの例あり。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 ビット命令の 6 形式。即値は符号拡張。C 拡張は 16 ビット符号化。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標準拡張。G は IMAFD の別名。C は 16 ビット圧縮。V はベクトル。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M-mode は必須。Unix 系 OS は S-mode + U-mode。ハイパーバイザは H 拡張。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まとめ。オープン・モジュール・RV64GC が汎用の出発点。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" y="656539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pic>
        <p:nvPicPr>
          <p:cNvPr id="6" name="Image 0" descr="create-slid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960120" cy="9601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0" y="17830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</a:t>
            </a:r>
            <a:endParaRPr lang="ja-JP" sz="4000" dirty="0"/>
          </a:p>
        </p:txBody>
      </p:sp>
      <p:sp>
        <p:nvSpPr>
          <p:cNvPr id="8" name="Text 4"/>
          <p:cNvSpPr/>
          <p:nvPr/>
        </p:nvSpPr>
        <p:spPr>
          <a:xfrm>
            <a:off x="1828800" y="242316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オープンな命令セットアーキテクチャ</a:t>
            </a:r>
            <a:endParaRPr lang="ja-JP" sz="2000" dirty="0"/>
          </a:p>
        </p:txBody>
      </p:sp>
      <p:sp>
        <p:nvSpPr>
          <p:cNvPr id="9" name="Shape 5"/>
          <p:cNvSpPr/>
          <p:nvPr/>
        </p:nvSpPr>
        <p:spPr>
          <a:xfrm>
            <a:off x="1828800" y="3017520"/>
            <a:ext cx="502920" cy="91440"/>
          </a:xfrm>
          <a:prstGeom prst="roundRect">
            <a:avLst>
              <a:gd name="adj" fmla="val 500000"/>
            </a:avLst>
          </a:prstGeom>
          <a:solidFill>
            <a:srgbClr val="0B6BCB"/>
          </a:solidFill>
          <a:ln/>
        </p:spPr>
      </p:sp>
      <p:sp>
        <p:nvSpPr>
          <p:cNvPr id="10" name="Text 6"/>
          <p:cNvSpPr/>
          <p:nvPr/>
        </p:nvSpPr>
        <p:spPr>
          <a:xfrm>
            <a:off x="1828800" y="3246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ISA  ·  標準拡張  ·  特権レベル</a:t>
            </a:r>
            <a:endParaRPr lang="ja-JP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411480" y="548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とは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命令セットアーキテクチャ（ISA）のオープン標準です。2010 年に UC Berkeley で始まり、仕様は RISC-V International が維持しています。</a:t>
            </a:r>
            <a:endParaRPr lang="ja-JP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</a:t>
            </a:r>
            <a:endParaRPr lang="ja-JP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仕様にライセンス料はかかりません。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実装はオープンソースでも、プロプライエタリでも構いません。</a:t>
            </a:r>
            <a:endParaRPr lang="ja-JP" sz="1400" dirty="0"/>
          </a:p>
        </p:txBody>
      </p:sp>
      <p:sp>
        <p:nvSpPr>
          <p:cNvPr id="12" name="Shape 9"/>
          <p:cNvSpPr/>
          <p:nvPr/>
        </p:nvSpPr>
        <p:spPr>
          <a:xfrm>
            <a:off x="429768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805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 の基本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448056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ロードストア型。演算はレジスタ間で行い、メモリは load / store 経由です。エンディアンはリトルエンディアンです。</a:t>
            </a:r>
            <a:endParaRPr lang="ja-JP" sz="1400" dirty="0"/>
          </a:p>
        </p:txBody>
      </p:sp>
      <p:sp>
        <p:nvSpPr>
          <p:cNvPr id="15" name="Shape 12"/>
          <p:cNvSpPr/>
          <p:nvPr/>
        </p:nvSpPr>
        <p:spPr>
          <a:xfrm>
            <a:off x="813816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104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モジュール</a:t>
            </a:r>
            <a:endParaRPr lang="ja-JP" sz="1600" dirty="0"/>
          </a:p>
        </p:txBody>
      </p:sp>
      <p:sp>
        <p:nvSpPr>
          <p:cNvPr id="17" name="Text 14"/>
          <p:cNvSpPr/>
          <p:nvPr/>
        </p:nvSpPr>
        <p:spPr>
          <a:xfrm>
            <a:off x="832104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整数ベース ISA を凍結し、乗除・浮動小数点・圧縮・ベクトルなどは標準拡張として足します。</a:t>
            </a:r>
            <a:endParaRPr lang="ja-JP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411480" y="548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設計思想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シンプル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遅延スロットや条件コードを ISA に載せない。直交した命令と少ない形式。</a:t>
            </a:r>
            <a:endParaRPr lang="ja-JP" sz="1500" dirty="0"/>
          </a:p>
        </p:txBody>
      </p:sp>
      <p:sp>
        <p:nvSpPr>
          <p:cNvPr id="9" name="Text 6"/>
          <p:cNvSpPr/>
          <p:nvPr/>
        </p:nvSpPr>
        <p:spPr>
          <a:xfrm>
            <a:off x="6217920" y="86868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モジュール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必要な拡張だけを実装する。組み込みは小さく、応用は RV64GC などから広げられる。</a:t>
            </a:r>
            <a:endParaRPr lang="ja-JP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365760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安定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批准済みのベース ISA は凍結する。既存のソフトウェアを壊す変更を入れない。</a:t>
            </a:r>
            <a:endParaRPr lang="ja-JP" sz="1500" dirty="0"/>
          </a:p>
        </p:txBody>
      </p:sp>
      <p:sp>
        <p:nvSpPr>
          <p:cNvPr id="11" name="Text 8"/>
          <p:cNvSpPr/>
          <p:nvPr/>
        </p:nvSpPr>
        <p:spPr>
          <a:xfrm>
            <a:off x="6217920" y="365760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実装の自由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パイプラインやキャッシュの形は ISA が縛りすぎない。ASIC でも FPGA でも同じ命令セット。</a:t>
            </a:r>
            <a:endParaRPr lang="ja-JP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411480" y="548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ベース整数 ISA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整数ベースは RV32I / RV64I / RV128I。組み込み向けにレジスタ 16 本の RV32E もあります。命令は基本 32 ビットです。</a:t>
            </a:r>
            <a:endParaRPr lang="ja-JP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1417320"/>
            <a:ext cx="2651760" cy="1051560"/>
          </a:xfrm>
          <a:prstGeom prst="rect">
            <a:avLst/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RV32I</a:t>
            </a:r>
            <a:endParaRPr lang="ja-JP" sz="1800" dirty="0"/>
          </a:p>
        </p:txBody>
      </p:sp>
      <p:sp>
        <p:nvSpPr>
          <p:cNvPr id="10" name="Text 7"/>
          <p:cNvSpPr/>
          <p:nvPr/>
        </p:nvSpPr>
        <p:spPr>
          <a:xfrm>
            <a:off x="3291840" y="1417320"/>
            <a:ext cx="2651760" cy="1051560"/>
          </a:xfrm>
          <a:prstGeom prst="rect">
            <a:avLst/>
          </a:prstGeom>
          <a:solidFill>
            <a:srgbClr val="0F9D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RV64I</a:t>
            </a:r>
            <a:endParaRPr lang="ja-JP" sz="1800" dirty="0"/>
          </a:p>
        </p:txBody>
      </p:sp>
      <p:sp>
        <p:nvSpPr>
          <p:cNvPr id="11" name="Text 8"/>
          <p:cNvSpPr/>
          <p:nvPr/>
        </p:nvSpPr>
        <p:spPr>
          <a:xfrm>
            <a:off x="6126480" y="1417320"/>
            <a:ext cx="2651760" cy="1051560"/>
          </a:xfrm>
          <a:prstGeom prst="rect">
            <a:avLst/>
          </a:prstGeom>
          <a:solidFill>
            <a:srgbClr val="C9780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RV128I</a:t>
            </a:r>
            <a:endParaRPr lang="ja-JP" sz="1800" dirty="0"/>
          </a:p>
        </p:txBody>
      </p:sp>
      <p:sp>
        <p:nvSpPr>
          <p:cNvPr id="12" name="Text 9"/>
          <p:cNvSpPr/>
          <p:nvPr/>
        </p:nvSpPr>
        <p:spPr>
          <a:xfrm>
            <a:off x="8961120" y="1417320"/>
            <a:ext cx="2697480" cy="1051560"/>
          </a:xfrm>
          <a:prstGeom prst="roundRect">
            <a:avLst>
              <a:gd name="adj" fmla="val 13043"/>
            </a:avLst>
          </a:prstGeom>
          <a:solidFill>
            <a:srgbClr val="7C3AED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RV32E（16本）</a:t>
            </a:r>
            <a:endParaRPr lang="ja-JP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2788920"/>
            <a:ext cx="2011680" cy="2011680"/>
          </a:xfrm>
          <a:prstGeom prst="ellipse">
            <a:avLst/>
          </a:prstGeom>
          <a:solidFill>
            <a:srgbClr val="E8F3FF"/>
          </a:solidFill>
          <a:ln w="1905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x0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zero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457200" y="48920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常に 0。書き込みは捨てられます。</a:t>
            </a:r>
            <a:endParaRPr lang="ja-JP" sz="1300" dirty="0"/>
          </a:p>
        </p:txBody>
      </p:sp>
      <p:sp>
        <p:nvSpPr>
          <p:cNvPr id="15" name="Text 12"/>
          <p:cNvSpPr/>
          <p:nvPr/>
        </p:nvSpPr>
        <p:spPr>
          <a:xfrm>
            <a:off x="2834640" y="2926080"/>
            <a:ext cx="8823960" cy="173736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x1 … x31   整数汎用レジスタ（32 ビットまたは 64 ビット）</a:t>
            </a:r>
            <a:endParaRPr lang="ja-JP" sz="1600" dirty="0"/>
          </a:p>
        </p:txBody>
      </p:sp>
      <p:sp>
        <p:nvSpPr>
          <p:cNvPr id="16" name="Text 13"/>
          <p:cNvSpPr/>
          <p:nvPr/>
        </p:nvSpPr>
        <p:spPr>
          <a:xfrm>
            <a:off x="9281160" y="2606040"/>
            <a:ext cx="2377440" cy="2331720"/>
          </a:xfrm>
          <a:prstGeom prst="ellipse">
            <a:avLst/>
          </a:prstGeom>
          <a:solidFill>
            <a:srgbClr val="C97800">
              <a:alpha val="40000"/>
            </a:srgbClr>
          </a:solidFill>
          <a:ln w="20320">
            <a:solidFill>
              <a:srgbClr val="C97800">
                <a:alpha val="67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半透明</a:t>
            </a:r>
            <a:endParaRPr lang="ja-JP" sz="1300" dirty="0"/>
          </a:p>
          <a:p>
            <a:pPr algn="ctr" indent="0" marL="0">
              <a:buNone/>
            </a:pPr>
            <a:r>
              <a:rPr lang="ja-JP" altLang="en-US" sz="13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F/D の fp</a:t>
            </a:r>
            <a:endParaRPr lang="ja-JP" sz="1300" dirty="0"/>
          </a:p>
        </p:txBody>
      </p:sp>
      <p:sp>
        <p:nvSpPr>
          <p:cNvPr id="17" name="Text 14"/>
          <p:cNvSpPr/>
          <p:nvPr/>
        </p:nvSpPr>
        <p:spPr>
          <a:xfrm>
            <a:off x="2834640" y="4800600"/>
            <a:ext cx="8823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ABI 名の例: ra, sp, gp, tp, t0–t6, s0–s11, a0–a7。浮動小数点レジスタは F / D 拡張で別途追加します。</a:t>
            </a:r>
            <a:endParaRPr lang="ja-JP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411480" y="548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命令フォーマット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7498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ISA の命令は 32 ビットで、R / I / S / B / U / J の 6 形式です。即値は符号拡張します。</a:t>
            </a:r>
            <a:endParaRPr lang="ja-JP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1280160"/>
            <a:ext cx="1828800" cy="640080"/>
          </a:xfrm>
          <a:prstGeom prst="rect">
            <a:avLst/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opcode</a:t>
            </a:r>
            <a:endParaRPr lang="ja-JP" sz="1300" dirty="0"/>
          </a:p>
        </p:txBody>
      </p:sp>
      <p:sp>
        <p:nvSpPr>
          <p:cNvPr id="10" name="Text 7"/>
          <p:cNvSpPr/>
          <p:nvPr/>
        </p:nvSpPr>
        <p:spPr>
          <a:xfrm>
            <a:off x="2377440" y="1280160"/>
            <a:ext cx="1554480" cy="640080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rd</a:t>
            </a:r>
            <a:endParaRPr lang="ja-JP" sz="1300" dirty="0"/>
          </a:p>
        </p:txBody>
      </p:sp>
      <p:sp>
        <p:nvSpPr>
          <p:cNvPr id="11" name="Text 8"/>
          <p:cNvSpPr/>
          <p:nvPr/>
        </p:nvSpPr>
        <p:spPr>
          <a:xfrm>
            <a:off x="4023360" y="1280160"/>
            <a:ext cx="1554480" cy="640080"/>
          </a:xfrm>
          <a:prstGeom prst="rect">
            <a:avLst/>
          </a:prstGeom>
          <a:solidFill>
            <a:srgbClr val="5AA0E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funct3</a:t>
            </a:r>
            <a:endParaRPr lang="ja-JP" sz="1300" dirty="0"/>
          </a:p>
        </p:txBody>
      </p:sp>
      <p:sp>
        <p:nvSpPr>
          <p:cNvPr id="12" name="Text 9"/>
          <p:cNvSpPr/>
          <p:nvPr/>
        </p:nvSpPr>
        <p:spPr>
          <a:xfrm>
            <a:off x="5669280" y="1280160"/>
            <a:ext cx="1554480" cy="640080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rs1</a:t>
            </a:r>
            <a:endParaRPr lang="ja-JP" sz="1300" dirty="0"/>
          </a:p>
        </p:txBody>
      </p:sp>
      <p:sp>
        <p:nvSpPr>
          <p:cNvPr id="13" name="Text 10"/>
          <p:cNvSpPr/>
          <p:nvPr/>
        </p:nvSpPr>
        <p:spPr>
          <a:xfrm>
            <a:off x="7315200" y="1280160"/>
            <a:ext cx="1554480" cy="640080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rs2</a:t>
            </a:r>
            <a:endParaRPr lang="ja-JP" sz="1300" dirty="0"/>
          </a:p>
        </p:txBody>
      </p:sp>
      <p:sp>
        <p:nvSpPr>
          <p:cNvPr id="14" name="Text 11"/>
          <p:cNvSpPr/>
          <p:nvPr/>
        </p:nvSpPr>
        <p:spPr>
          <a:xfrm>
            <a:off x="8961120" y="1280160"/>
            <a:ext cx="2697480" cy="6400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funct7 / imm</a:t>
            </a:r>
            <a:endParaRPr lang="ja-JP" sz="1300" dirty="0"/>
          </a:p>
        </p:txBody>
      </p:sp>
      <p:sp>
        <p:nvSpPr>
          <p:cNvPr id="15" name="Shape 12"/>
          <p:cNvSpPr/>
          <p:nvPr/>
        </p:nvSpPr>
        <p:spPr>
          <a:xfrm>
            <a:off x="10561320" y="2057400"/>
            <a:ext cx="640080" cy="411480"/>
          </a:xfrm>
          <a:prstGeom prst="triangle">
            <a:avLst/>
          </a:prstGeom>
          <a:solidFill>
            <a:srgbClr val="C97800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0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300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即値は形式ごとにビット配置が違う</a:t>
            </a:r>
            <a:endParaRPr lang="ja-JP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  レジスタ演算</a:t>
            </a:r>
            <a:endParaRPr lang="ja-JP" sz="1400" dirty="0"/>
          </a:p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add, sub, and, or, xor</a:t>
            </a:r>
            <a:endParaRPr lang="ja-JP" sz="1400" dirty="0"/>
          </a:p>
        </p:txBody>
      </p:sp>
      <p:sp>
        <p:nvSpPr>
          <p:cNvPr id="18" name="Text 15"/>
          <p:cNvSpPr/>
          <p:nvPr/>
        </p:nvSpPr>
        <p:spPr>
          <a:xfrm>
            <a:off x="429768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  即値・ロード</a:t>
            </a:r>
            <a:endParaRPr lang="ja-JP" sz="1400" dirty="0"/>
          </a:p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addi, lw, jalr, シフト</a:t>
            </a:r>
            <a:endParaRPr lang="ja-JP" sz="1400" dirty="0"/>
          </a:p>
        </p:txBody>
      </p:sp>
      <p:sp>
        <p:nvSpPr>
          <p:cNvPr id="19" name="Text 16"/>
          <p:cNvSpPr/>
          <p:nvPr/>
        </p:nvSpPr>
        <p:spPr>
          <a:xfrm>
            <a:off x="813816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  ストア</a:t>
            </a:r>
            <a:endParaRPr lang="ja-JP" sz="1400" dirty="0"/>
          </a:p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sw, sh, sb</a:t>
            </a:r>
            <a:endParaRPr lang="ja-JP" sz="1400" dirty="0"/>
          </a:p>
        </p:txBody>
      </p:sp>
      <p:sp>
        <p:nvSpPr>
          <p:cNvPr id="20" name="Text 17"/>
          <p:cNvSpPr/>
          <p:nvPr/>
        </p:nvSpPr>
        <p:spPr>
          <a:xfrm>
            <a:off x="45720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  条件分岐</a:t>
            </a:r>
            <a:endParaRPr lang="ja-JP" sz="1400" dirty="0"/>
          </a:p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beq, bne, blt, bge</a:t>
            </a:r>
            <a:endParaRPr lang="ja-JP" sz="1400" dirty="0"/>
          </a:p>
        </p:txBody>
      </p:sp>
      <p:sp>
        <p:nvSpPr>
          <p:cNvPr id="21" name="Text 18"/>
          <p:cNvSpPr/>
          <p:nvPr/>
        </p:nvSpPr>
        <p:spPr>
          <a:xfrm>
            <a:off x="429768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  上位即値</a:t>
            </a:r>
            <a:endParaRPr lang="ja-JP" sz="1400" dirty="0"/>
          </a:p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lui, auipc</a:t>
            </a:r>
            <a:endParaRPr lang="ja-JP" sz="1400" dirty="0"/>
          </a:p>
        </p:txBody>
      </p:sp>
      <p:sp>
        <p:nvSpPr>
          <p:cNvPr id="22" name="Text 19"/>
          <p:cNvSpPr/>
          <p:nvPr/>
        </p:nvSpPr>
        <p:spPr>
          <a:xfrm>
            <a:off x="813816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J  ジャンプ</a:t>
            </a:r>
            <a:endParaRPr lang="ja-JP" sz="1400" dirty="0"/>
          </a:p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jal</a:t>
            </a:r>
            <a:endParaRPr lang="ja-JP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411480" y="548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標準拡張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411480" y="822960"/>
            <a:ext cx="2880360" cy="1234440"/>
          </a:xfrm>
          <a:prstGeom prst="roundRect">
            <a:avLst>
              <a:gd name="adj" fmla="val 8889"/>
            </a:avLst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</a:t>
            </a:r>
            <a:endParaRPr lang="ja-JP" sz="1800" dirty="0"/>
          </a:p>
        </p:txBody>
      </p:sp>
      <p:sp>
        <p:nvSpPr>
          <p:cNvPr id="9" name="Shape 6"/>
          <p:cNvSpPr/>
          <p:nvPr/>
        </p:nvSpPr>
        <p:spPr>
          <a:xfrm>
            <a:off x="3429000" y="1097280"/>
            <a:ext cx="1234440" cy="685800"/>
          </a:xfrm>
          <a:prstGeom prst="rightArrow">
            <a:avLst/>
          </a:prstGeom>
          <a:solidFill>
            <a:srgbClr val="0B6BCB"/>
          </a:solidFill>
          <a:ln/>
        </p:spPr>
      </p:sp>
      <p:sp>
        <p:nvSpPr>
          <p:cNvPr id="10" name="Text 7"/>
          <p:cNvSpPr/>
          <p:nvPr/>
        </p:nvSpPr>
        <p:spPr>
          <a:xfrm>
            <a:off x="3383280" y="1874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必要なものだけを足す</a:t>
            </a:r>
            <a:endParaRPr lang="ja-JP" sz="1100" dirty="0"/>
          </a:p>
        </p:txBody>
      </p:sp>
      <p:sp>
        <p:nvSpPr>
          <p:cNvPr id="11" name="Text 8"/>
          <p:cNvSpPr/>
          <p:nvPr/>
        </p:nvSpPr>
        <p:spPr>
          <a:xfrm>
            <a:off x="4846320" y="777240"/>
            <a:ext cx="1325880" cy="1325880"/>
          </a:xfrm>
          <a:prstGeom prst="ellipse">
            <a:avLst/>
          </a:prstGeom>
          <a:solidFill>
            <a:srgbClr val="E8F7EE"/>
          </a:solidFill>
          <a:ln w="17780">
            <a:solidFill>
              <a:srgbClr val="0F9D5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0F9D5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</a:t>
            </a:r>
            <a:endParaRPr lang="ja-JP" sz="1800" dirty="0"/>
          </a:p>
        </p:txBody>
      </p:sp>
      <p:sp>
        <p:nvSpPr>
          <p:cNvPr id="12" name="Text 9"/>
          <p:cNvSpPr/>
          <p:nvPr/>
        </p:nvSpPr>
        <p:spPr>
          <a:xfrm>
            <a:off x="6309360" y="777240"/>
            <a:ext cx="1325880" cy="1325880"/>
          </a:xfrm>
          <a:prstGeom prst="ellipse">
            <a:avLst/>
          </a:prstGeom>
          <a:solidFill>
            <a:srgbClr val="E8F3FF"/>
          </a:solidFill>
          <a:ln w="1778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</a:t>
            </a:r>
            <a:endParaRPr lang="ja-JP" sz="1800" dirty="0"/>
          </a:p>
        </p:txBody>
      </p:sp>
      <p:sp>
        <p:nvSpPr>
          <p:cNvPr id="13" name="Text 10"/>
          <p:cNvSpPr/>
          <p:nvPr/>
        </p:nvSpPr>
        <p:spPr>
          <a:xfrm>
            <a:off x="7772400" y="777240"/>
            <a:ext cx="1325880" cy="1325880"/>
          </a:xfrm>
          <a:prstGeom prst="ellipse">
            <a:avLst/>
          </a:prstGeom>
          <a:solidFill>
            <a:srgbClr val="FFF4E0"/>
          </a:solidFill>
          <a:ln w="17780">
            <a:solidFill>
              <a:srgbClr val="C978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F/D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9235440" y="777240"/>
            <a:ext cx="1325880" cy="1325880"/>
          </a:xfrm>
          <a:prstGeom prst="ellipse">
            <a:avLst/>
          </a:prstGeom>
          <a:solidFill>
            <a:srgbClr val="F3EEFF"/>
          </a:solidFill>
          <a:ln w="17780">
            <a:solidFill>
              <a:srgbClr val="7C3AE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7C3AE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</a:t>
            </a:r>
            <a:endParaRPr lang="ja-JP" sz="1800" dirty="0"/>
          </a:p>
        </p:txBody>
      </p:sp>
      <p:sp>
        <p:nvSpPr>
          <p:cNvPr id="15" name="Text 12"/>
          <p:cNvSpPr/>
          <p:nvPr/>
        </p:nvSpPr>
        <p:spPr>
          <a:xfrm>
            <a:off x="10698480" y="777240"/>
            <a:ext cx="1325880" cy="1325880"/>
          </a:xfrm>
          <a:prstGeom prst="ellipse">
            <a:avLst/>
          </a:prstGeom>
          <a:solidFill>
            <a:srgbClr val="E8F3FF"/>
          </a:solidFill>
          <a:ln w="1778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</a:t>
            </a:r>
            <a:endParaRPr lang="ja-JP" sz="1800" dirty="0"/>
          </a:p>
        </p:txBody>
      </p:sp>
      <p:sp>
        <p:nvSpPr>
          <p:cNvPr id="16" name="Text 13"/>
          <p:cNvSpPr/>
          <p:nvPr/>
        </p:nvSpPr>
        <p:spPr>
          <a:xfrm>
            <a:off x="411480" y="2331720"/>
            <a:ext cx="3657600" cy="384048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  整数の乗算・除算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  アトミック（A 拡張）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  単精度浮動小数点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  倍精度浮動小数点</a:t>
            </a:r>
            <a:endParaRPr lang="ja-JP" sz="1500" dirty="0"/>
          </a:p>
        </p:txBody>
      </p:sp>
      <p:sp>
        <p:nvSpPr>
          <p:cNvPr id="17" name="Text 14"/>
          <p:cNvSpPr/>
          <p:nvPr/>
        </p:nvSpPr>
        <p:spPr>
          <a:xfrm>
            <a:off x="4251960" y="2331720"/>
            <a:ext cx="3657600" cy="384048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  16 ビット圧縮符号化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  ベクトル（批准済み）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Zicsr / Zifencei  など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  ビット操作 ほか</a:t>
            </a:r>
            <a:endParaRPr lang="ja-JP" sz="1500" dirty="0"/>
          </a:p>
        </p:txBody>
      </p:sp>
      <p:sp>
        <p:nvSpPr>
          <p:cNvPr id="18" name="Text 15"/>
          <p:cNvSpPr/>
          <p:nvPr/>
        </p:nvSpPr>
        <p:spPr>
          <a:xfrm>
            <a:off x="8092440" y="2331720"/>
            <a:ext cx="3657600" cy="3840480"/>
          </a:xfrm>
          <a:prstGeom prst="roundRect">
            <a:avLst>
              <a:gd name="adj" fmla="val 2500"/>
            </a:avLst>
          </a:prstGeom>
          <a:solidFill>
            <a:srgbClr val="E8F3FF"/>
          </a:solidFill>
          <a:ln w="15875">
            <a:solidFill>
              <a:srgbClr val="0B6BCB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 = IMAFD</a:t>
            </a:r>
            <a:endParaRPr lang="ja-JP" sz="1600" dirty="0"/>
          </a:p>
          <a:p>
            <a:pPr algn="l" indent="0" marL="0">
              <a:buNone/>
            </a:pPr>
            <a:endParaRPr lang="ja-JP" sz="1600" dirty="0"/>
          </a:p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汎用の出発点は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RV64GC が多い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（I+MAFD+C）</a:t>
            </a:r>
            <a:endParaRPr lang="ja-JP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411480" y="548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特権レベル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6766560" cy="1417320"/>
          </a:xfrm>
          <a:prstGeom prst="rect">
            <a:avLst/>
          </a:prstGeom>
          <a:solidFill>
            <a:srgbClr val="D9ECFF"/>
          </a:solidFill>
          <a:ln w="1524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U-mode    ユーザー（アプリケーション）</a:t>
            </a:r>
            <a:endParaRPr lang="ja-JP" sz="1600" dirty="0"/>
          </a:p>
        </p:txBody>
      </p:sp>
      <p:sp>
        <p:nvSpPr>
          <p:cNvPr id="9" name="Shape 6"/>
          <p:cNvSpPr/>
          <p:nvPr/>
        </p:nvSpPr>
        <p:spPr>
          <a:xfrm>
            <a:off x="3520440" y="2331720"/>
            <a:ext cx="640080" cy="502920"/>
          </a:xfrm>
          <a:prstGeom prst="downArrow">
            <a:avLst/>
          </a:prstGeom>
          <a:solidFill>
            <a:srgbClr val="0B6BCB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2880360"/>
            <a:ext cx="6766560" cy="1417320"/>
          </a:xfrm>
          <a:prstGeom prst="rect">
            <a:avLst/>
          </a:prstGeom>
          <a:solidFill>
            <a:srgbClr val="C8E6D4"/>
          </a:solidFill>
          <a:ln w="15240">
            <a:solidFill>
              <a:srgbClr val="0F9D5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S-mode    スーパーバイザ（Linux など）</a:t>
            </a:r>
            <a:endParaRPr lang="ja-JP" sz="1600" dirty="0"/>
          </a:p>
        </p:txBody>
      </p:sp>
      <p:sp>
        <p:nvSpPr>
          <p:cNvPr id="11" name="Shape 8"/>
          <p:cNvSpPr/>
          <p:nvPr/>
        </p:nvSpPr>
        <p:spPr>
          <a:xfrm>
            <a:off x="3520440" y="4343400"/>
            <a:ext cx="640080" cy="502920"/>
          </a:xfrm>
          <a:prstGeom prst="downArrow">
            <a:avLst/>
          </a:prstGeom>
          <a:solidFill>
            <a:srgbClr val="0F9D5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4892040"/>
            <a:ext cx="6766560" cy="1371600"/>
          </a:xfrm>
          <a:prstGeom prst="rect">
            <a:avLst/>
          </a:prstGeom>
          <a:solidFill>
            <a:srgbClr val="FFE4C2"/>
          </a:solidFill>
          <a:ln w="15240">
            <a:solidFill>
              <a:srgbClr val="C978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M-mode    マシン（ファームウェア、必須）</a:t>
            </a:r>
            <a:endParaRPr lang="ja-JP" sz="1600" dirty="0"/>
          </a:p>
        </p:txBody>
      </p:sp>
      <p:sp>
        <p:nvSpPr>
          <p:cNvPr id="13" name="Shape 10"/>
          <p:cNvSpPr/>
          <p:nvPr/>
        </p:nvSpPr>
        <p:spPr>
          <a:xfrm>
            <a:off x="7498080" y="868680"/>
            <a:ext cx="4206240" cy="5394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26680" y="10515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要点</a:t>
            </a:r>
            <a:endParaRPr lang="ja-JP" sz="1600" dirty="0"/>
          </a:p>
        </p:txBody>
      </p:sp>
      <p:sp>
        <p:nvSpPr>
          <p:cNvPr id="15" name="Text 12"/>
          <p:cNvSpPr/>
          <p:nvPr/>
        </p:nvSpPr>
        <p:spPr>
          <a:xfrm>
            <a:off x="7726680" y="1508760"/>
            <a:ext cx="37947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M-mode はすべての実装に必要です。</a:t>
            </a:r>
            <a:endParaRPr lang="ja-JP" sz="1400" dirty="0"/>
          </a:p>
          <a:p>
            <a:pPr indent="0" marL="0">
              <a:buNone/>
            </a:pP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Unix 系 OS は S-mode と U-mode を載せます。</a:t>
            </a:r>
            <a:endParaRPr lang="ja-JP" sz="1400" dirty="0"/>
          </a:p>
          <a:p>
            <a:pPr indent="0" marL="0">
              <a:buNone/>
            </a:pP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仮想化は Hypervisor（H）拡張です。</a:t>
            </a:r>
            <a:endParaRPr lang="ja-JP" sz="1400" dirty="0"/>
          </a:p>
          <a:p>
            <a:pPr indent="0" marL="0">
              <a:buNone/>
            </a:pP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トラップはより高い特権へ渡り、mret / sret で戻ります。</a:t>
            </a:r>
            <a:endParaRPr lang="ja-JP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0698480" y="-777240"/>
            <a:ext cx="2377440" cy="2377440"/>
          </a:xfrm>
          <a:prstGeom prst="ellipse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まとめ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7772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まとめ</a:t>
            </a:r>
            <a:endParaRPr lang="ja-JP" sz="3200" dirty="0"/>
          </a:p>
        </p:txBody>
      </p:sp>
      <p:sp>
        <p:nvSpPr>
          <p:cNvPr id="8" name="Shape 5"/>
          <p:cNvSpPr/>
          <p:nvPr/>
        </p:nvSpPr>
        <p:spPr>
          <a:xfrm>
            <a:off x="640080" y="1554480"/>
            <a:ext cx="502920" cy="91440"/>
          </a:xfrm>
          <a:prstGeom prst="roundRect">
            <a:avLst>
              <a:gd name="adj" fmla="val 500000"/>
            </a:avLst>
          </a:prstGeom>
          <a:solidFill>
            <a:srgbClr val="0B6BC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9202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オープン標準。仕様にロイヤリティは不要です。</a:t>
            </a:r>
            <a:endParaRPr lang="ja-JP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28346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ISA を小さく凍結し、機能は M / A / F / D / C / V などの拡張で足します。</a:t>
            </a:r>
            <a:endParaRPr lang="ja-JP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37490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汎用の出発点は RV64GC。特権は M（必須）に加え、OS 向けに S と U を載せます。</a:t>
            </a:r>
            <a:endParaRPr lang="ja-JP" sz="1600" dirty="0"/>
          </a:p>
        </p:txBody>
      </p:sp>
      <p:sp>
        <p:nvSpPr>
          <p:cNvPr id="12" name="Text 9"/>
          <p:cNvSpPr/>
          <p:nvPr/>
        </p:nvSpPr>
        <p:spPr>
          <a:xfrm>
            <a:off x="640080" y="4800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ご清聴ありがとうございました</a:t>
            </a:r>
            <a:endParaRPr lang="ja-JP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RISC-V 入門</dc:title>
  <dc:subject>オープンな命令セットアーキテクチャ</dc:subject>
  <dc:creator>create-slides</dc:creator>
  <cp:lastModifiedBy>create-slides</cp:lastModifiedBy>
  <cp:revision>1</cp:revision>
  <dcterms:created xsi:type="dcterms:W3CDTF">2026-10-06T11:15:30Z</dcterms:created>
  <dcterms:modified xsi:type="dcterms:W3CDTF">2026-10-06T11:15:30Z</dcterms:modified>
</cp:coreProperties>
</file>