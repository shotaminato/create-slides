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表紙。調査日 2026-10-06。基礎レポートと SHD 予測を出典付きでまとめた入門。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はオープンな ISA（仕様）。チップでも会社でもない。実装 IP は別コスト。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モジュール方式。RV32/64 の I に拡張を足す。RVA23 は V と H が必須。オープン ISA は無料シリコンではない。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2010 年 Berkeley 開始から 2026 年 RVA23 ハードウェア元年までの主要マイルストーン。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2026年は RVA23 ハードウェア元年。量産 SoC と OS ベースラインが揃い始めた。サーバーとスマホはまだ弱い。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SHD Group 2026年版。出荷数と売上は 2024 年まで実績、2025 年以降は予測。売上は RISC-V を含む SoC 全体の金額。棒は出荷／売上、折れ線は普及率。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SHD Group Table 32。RISC-V CPU IP 売上。2024年 2.05億ドル、2031年 19.1億ドル、CAGR 39.7%。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まとめ。ラベルは付けない。1行のみ wrap:false。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19088"/>
            <a:ext cx="923544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調査日 2026-10-06</a:t>
            </a:r>
            <a:endParaRPr lang="ja-JP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42900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  ·  2026年10月</a:t>
            </a:r>
            <a:endParaRPr lang="ja-JP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endParaRPr lang="ja-JP" dirty="0"/>
          </a:p>
        </p:txBody>
      </p:sp>
      <p:sp>
        <p:nvSpPr>
          <p:cNvPr id="3" name="Shape 1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364224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6419088"/>
            <a:ext cx="93268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  ·  2026年10月</a:t>
            </a:r>
            <a:endParaRPr lang="ja-JP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640080" y="1965960"/>
            <a:ext cx="10515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入門＆市場動向（2026年10月）</a:t>
            </a:r>
            <a:endParaRPr lang="ja-JP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基礎からSHD予測まで／出典付き</a:t>
            </a:r>
            <a:endParaRPr lang="ja-JP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RISC-Vは「オープンなISA（仕様）」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822960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チップでも会社でもない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ソフトウェアと CPU の「約束事」。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365760" y="2176272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仕様はロイヤリティフリー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 IP・検証・製造は別コスト。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365760" y="3529584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 Berkeley → 2020 RVI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標準団体はチップを作らない。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365760" y="4882896"/>
            <a:ext cx="50749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強みは自由度。弱みは高性能の実績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と断片化リスク。</a:t>
            </a:r>
            <a:endParaRPr lang="ja-JP" sz="1800" dirty="0"/>
          </a:p>
        </p:txBody>
      </p:sp>
      <p:sp>
        <p:nvSpPr>
          <p:cNvPr id="9" name="Text 6"/>
          <p:cNvSpPr/>
          <p:nvPr/>
        </p:nvSpPr>
        <p:spPr>
          <a:xfrm>
            <a:off x="5623560" y="786384"/>
            <a:ext cx="617220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ライセンスモデル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5623560" y="1133856"/>
            <a:ext cx="2999232" cy="438912"/>
          </a:xfrm>
          <a:prstGeom prst="roundRect">
            <a:avLst>
              <a:gd name="adj" fmla="val 16667"/>
            </a:avLst>
          </a:prstGeom>
          <a:solidFill>
            <a:srgbClr val="0B6BCB"/>
          </a:solidFill>
          <a:ln/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8732520" y="1133856"/>
            <a:ext cx="3063240" cy="438912"/>
          </a:xfrm>
          <a:prstGeom prst="roundRect">
            <a:avLst>
              <a:gd name="adj" fmla="val 16667"/>
            </a:avLst>
          </a:prstGeom>
          <a:solidFill>
            <a:srgbClr val="C4473A"/>
          </a:solidFill>
          <a:ln/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Arm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5623560" y="1664208"/>
            <a:ext cx="2999232" cy="1078992"/>
          </a:xfrm>
          <a:prstGeom prst="roundRect">
            <a:avLst>
              <a:gd name="adj" fmla="val 6780"/>
            </a:avLst>
          </a:prstGeom>
          <a:solidFill>
            <a:srgbClr val="E8F3FF"/>
          </a:solidFill>
          <a:ln w="1270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ISA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誰でも無償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8732520" y="1664208"/>
            <a:ext cx="3063240" cy="1078992"/>
          </a:xfrm>
          <a:prstGeom prst="roundRect">
            <a:avLst>
              <a:gd name="adj" fmla="val 6780"/>
            </a:avLst>
          </a:prstGeom>
          <a:solidFill>
            <a:srgbClr val="FDECEA"/>
          </a:solidFill>
          <a:ln w="12700">
            <a:solidFill>
              <a:srgbClr val="C4473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ISA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契約が必要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5623560" y="2834640"/>
            <a:ext cx="2999232" cy="1078992"/>
          </a:xfrm>
          <a:prstGeom prst="roundRect">
            <a:avLst>
              <a:gd name="adj" fmla="val 6780"/>
            </a:avLst>
          </a:prstGeom>
          <a:solidFill>
            <a:srgbClr val="E8F3FF"/>
          </a:solidFill>
          <a:ln w="1270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コア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IP / OSS / 自社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8732520" y="2834640"/>
            <a:ext cx="3063240" cy="1078992"/>
          </a:xfrm>
          <a:prstGeom prst="roundRect">
            <a:avLst>
              <a:gd name="adj" fmla="val 6780"/>
            </a:avLst>
          </a:prstGeom>
          <a:solidFill>
            <a:srgbClr val="FDECEA"/>
          </a:solidFill>
          <a:ln w="12700">
            <a:solidFill>
              <a:srgbClr val="C4473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コア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Arm IP をライセンス</a:t>
            </a:r>
            <a:endParaRPr lang="ja-JP" sz="1600" dirty="0"/>
          </a:p>
        </p:txBody>
      </p:sp>
      <p:sp>
        <p:nvSpPr>
          <p:cNvPr id="16" name="Text 13"/>
          <p:cNvSpPr/>
          <p:nvPr/>
        </p:nvSpPr>
        <p:spPr>
          <a:xfrm>
            <a:off x="5623560" y="4005072"/>
            <a:ext cx="2999232" cy="1078992"/>
          </a:xfrm>
          <a:prstGeom prst="roundRect">
            <a:avLst>
              <a:gd name="adj" fmla="val 6780"/>
            </a:avLst>
          </a:prstGeom>
          <a:solidFill>
            <a:srgbClr val="E8F3FF"/>
          </a:solidFill>
          <a:ln w="1270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カスタム命令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エンコーディング領域あり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8732520" y="4005072"/>
            <a:ext cx="3063240" cy="1078992"/>
          </a:xfrm>
          <a:prstGeom prst="roundRect">
            <a:avLst>
              <a:gd name="adj" fmla="val 6780"/>
            </a:avLst>
          </a:prstGeom>
          <a:solidFill>
            <a:srgbClr val="FDECEA"/>
          </a:solidFill>
          <a:ln w="12700">
            <a:solidFill>
              <a:srgbClr val="C4473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カスタム命令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原則 Arm の範囲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5623560" y="5175504"/>
            <a:ext cx="2999232" cy="1078992"/>
          </a:xfrm>
          <a:prstGeom prst="roundRect">
            <a:avLst>
              <a:gd name="adj" fmla="val 6780"/>
            </a:avLst>
          </a:prstGeom>
          <a:solidFill>
            <a:srgbClr val="E8F3FF"/>
          </a:solidFill>
          <a:ln w="1270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実装・検証・製造</a:t>
            </a:r>
            <a:endParaRPr lang="ja-JP" sz="1600" dirty="0"/>
          </a:p>
        </p:txBody>
      </p:sp>
      <p:sp>
        <p:nvSpPr>
          <p:cNvPr id="19" name="Text 16"/>
          <p:cNvSpPr/>
          <p:nvPr/>
        </p:nvSpPr>
        <p:spPr>
          <a:xfrm>
            <a:off x="8732520" y="5175504"/>
            <a:ext cx="3063240" cy="1078992"/>
          </a:xfrm>
          <a:prstGeom prst="roundRect">
            <a:avLst>
              <a:gd name="adj" fmla="val 6780"/>
            </a:avLst>
          </a:prstGeom>
          <a:solidFill>
            <a:srgbClr val="FDECEA"/>
          </a:solidFill>
          <a:ln w="12700">
            <a:solidFill>
              <a:srgbClr val="C4473A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ライセンス＋ロイヤリティ</a:t>
            </a:r>
            <a:endParaRPr lang="ja-JP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基本ISA＋拡張＋プロファイル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786384"/>
            <a:ext cx="3703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RV32/64 の I に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/ A / F / D / C / V を足す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4206240" y="786384"/>
            <a:ext cx="37033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RVA23（2024-10 批准）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と H が必須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8046720" y="786384"/>
            <a:ext cx="37490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オープンISA ≠ 無償シリコン</a:t>
            </a:r>
            <a:endParaRPr lang="ja-JP" sz="1800" dirty="0"/>
          </a:p>
          <a:p>
            <a:pPr algn="ctr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コアは IP／OSS／自社設計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411480" y="1792224"/>
            <a:ext cx="1133856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下から積み上げるモジュール方式</a:t>
            </a:r>
            <a:endParaRPr lang="ja-JP" sz="1600" dirty="0"/>
          </a:p>
        </p:txBody>
      </p:sp>
      <p:sp>
        <p:nvSpPr>
          <p:cNvPr id="9" name="Text 6"/>
          <p:cNvSpPr/>
          <p:nvPr/>
        </p:nvSpPr>
        <p:spPr>
          <a:xfrm>
            <a:off x="365760" y="2121408"/>
            <a:ext cx="11430000" cy="1024128"/>
          </a:xfrm>
          <a:prstGeom prst="roundRect">
            <a:avLst>
              <a:gd name="adj" fmla="val 8929"/>
            </a:avLst>
          </a:prstGeom>
          <a:solidFill>
            <a:srgbClr val="F3EEFF"/>
          </a:solidFill>
          <a:ln w="13970">
            <a:solidFill>
              <a:srgbClr val="7C3AED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プロファイル（必須セット）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3063240" y="2487168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RVA23（V・H 必須）</a:t>
            </a:r>
            <a:endParaRPr lang="ja-JP" sz="1500" dirty="0"/>
          </a:p>
        </p:txBody>
      </p:sp>
      <p:sp>
        <p:nvSpPr>
          <p:cNvPr id="11" name="Text 8"/>
          <p:cNvSpPr/>
          <p:nvPr/>
        </p:nvSpPr>
        <p:spPr>
          <a:xfrm>
            <a:off x="5806440" y="2487168"/>
            <a:ext cx="26060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RVB23（組込み）</a:t>
            </a:r>
            <a:endParaRPr lang="ja-JP" sz="1500" dirty="0"/>
          </a:p>
        </p:txBody>
      </p:sp>
      <p:sp>
        <p:nvSpPr>
          <p:cNvPr id="12" name="Text 9"/>
          <p:cNvSpPr/>
          <p:nvPr/>
        </p:nvSpPr>
        <p:spPr>
          <a:xfrm>
            <a:off x="8549640" y="2487168"/>
            <a:ext cx="29260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RVM（マイコン）</a:t>
            </a:r>
            <a:endParaRPr lang="ja-JP" sz="1500" dirty="0"/>
          </a:p>
        </p:txBody>
      </p:sp>
      <p:sp>
        <p:nvSpPr>
          <p:cNvPr id="13" name="Text 10"/>
          <p:cNvSpPr/>
          <p:nvPr/>
        </p:nvSpPr>
        <p:spPr>
          <a:xfrm>
            <a:off x="365760" y="3236976"/>
            <a:ext cx="11430000" cy="713232"/>
          </a:xfrm>
          <a:prstGeom prst="roundRect">
            <a:avLst>
              <a:gd name="adj" fmla="val 12821"/>
            </a:avLst>
          </a:prstGeom>
          <a:solidFill>
            <a:srgbClr val="FFF4E5"/>
          </a:solidFill>
          <a:ln w="13970">
            <a:solidFill>
              <a:srgbClr val="C97800"/>
            </a:solidFill>
          </a:ln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カスタム拡張　ベンダー独自命令（移植性は下がる）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365760" y="4041648"/>
            <a:ext cx="11430000" cy="1078992"/>
          </a:xfrm>
          <a:prstGeom prst="roundRect">
            <a:avLst>
              <a:gd name="adj" fmla="val 8475"/>
            </a:avLst>
          </a:prstGeom>
          <a:solidFill>
            <a:srgbClr val="E8F3FF"/>
          </a:solidFill>
          <a:ln w="13970">
            <a:solidFill>
              <a:srgbClr val="0B6BCB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2148840" y="4407408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乗除</a:t>
            </a:r>
            <a:endParaRPr lang="ja-JP" sz="1500" dirty="0"/>
          </a:p>
        </p:txBody>
      </p:sp>
      <p:sp>
        <p:nvSpPr>
          <p:cNvPr id="16" name="Text 13"/>
          <p:cNvSpPr/>
          <p:nvPr/>
        </p:nvSpPr>
        <p:spPr>
          <a:xfrm>
            <a:off x="3474720" y="4407408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原子</a:t>
            </a:r>
            <a:endParaRPr lang="ja-JP" sz="1500" dirty="0"/>
          </a:p>
        </p:txBody>
      </p:sp>
      <p:sp>
        <p:nvSpPr>
          <p:cNvPr id="17" name="Text 14"/>
          <p:cNvSpPr/>
          <p:nvPr/>
        </p:nvSpPr>
        <p:spPr>
          <a:xfrm>
            <a:off x="4800600" y="4407408"/>
            <a:ext cx="132588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/ D 浮動</a:t>
            </a:r>
            <a:endParaRPr lang="ja-JP" sz="1500" dirty="0"/>
          </a:p>
        </p:txBody>
      </p:sp>
      <p:sp>
        <p:nvSpPr>
          <p:cNvPr id="18" name="Text 15"/>
          <p:cNvSpPr/>
          <p:nvPr/>
        </p:nvSpPr>
        <p:spPr>
          <a:xfrm>
            <a:off x="6217920" y="4407408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圧縮</a:t>
            </a:r>
            <a:endParaRPr lang="ja-JP" sz="1500" dirty="0"/>
          </a:p>
        </p:txBody>
      </p:sp>
      <p:sp>
        <p:nvSpPr>
          <p:cNvPr id="19" name="Text 16"/>
          <p:cNvSpPr/>
          <p:nvPr/>
        </p:nvSpPr>
        <p:spPr>
          <a:xfrm>
            <a:off x="7543800" y="4407408"/>
            <a:ext cx="1417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ベクトル</a:t>
            </a:r>
            <a:endParaRPr lang="ja-JP" sz="1500" dirty="0"/>
          </a:p>
        </p:txBody>
      </p:sp>
      <p:sp>
        <p:nvSpPr>
          <p:cNvPr id="20" name="Text 17"/>
          <p:cNvSpPr/>
          <p:nvPr/>
        </p:nvSpPr>
        <p:spPr>
          <a:xfrm>
            <a:off x="9052560" y="4407408"/>
            <a:ext cx="24231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B6BCB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H ハイパーバイザ</a:t>
            </a:r>
            <a:endParaRPr lang="ja-JP" sz="1500" dirty="0"/>
          </a:p>
        </p:txBody>
      </p:sp>
      <p:sp>
        <p:nvSpPr>
          <p:cNvPr id="21" name="Text 18"/>
          <p:cNvSpPr/>
          <p:nvPr/>
        </p:nvSpPr>
        <p:spPr>
          <a:xfrm>
            <a:off x="365760" y="5212080"/>
            <a:ext cx="11430000" cy="1024128"/>
          </a:xfrm>
          <a:prstGeom prst="roundRect">
            <a:avLst>
              <a:gd name="adj" fmla="val 8929"/>
            </a:avLst>
          </a:prstGeom>
          <a:solidFill>
            <a:srgbClr val="E7F6EE"/>
          </a:solidFill>
          <a:ln w="13970">
            <a:solidFill>
              <a:srgbClr val="0F9D58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基本命令セット（どれか1つ）</a:t>
            </a:r>
            <a:endParaRPr lang="ja-JP" sz="1600" dirty="0"/>
          </a:p>
        </p:txBody>
      </p:sp>
      <p:sp>
        <p:nvSpPr>
          <p:cNvPr id="22" name="Text 19"/>
          <p:cNvSpPr/>
          <p:nvPr/>
        </p:nvSpPr>
        <p:spPr>
          <a:xfrm>
            <a:off x="3794760" y="55778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0F9D58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1600" dirty="0"/>
          </a:p>
        </p:txBody>
      </p:sp>
      <p:sp>
        <p:nvSpPr>
          <p:cNvPr id="23" name="Text 20"/>
          <p:cNvSpPr/>
          <p:nvPr/>
        </p:nvSpPr>
        <p:spPr>
          <a:xfrm>
            <a:off x="6217920" y="5577840"/>
            <a:ext cx="22860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0F9D58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1600" dirty="0"/>
          </a:p>
        </p:txBody>
      </p:sp>
      <p:sp>
        <p:nvSpPr>
          <p:cNvPr id="24" name="Text 21"/>
          <p:cNvSpPr/>
          <p:nvPr/>
        </p:nvSpPr>
        <p:spPr>
          <a:xfrm>
            <a:off x="8641080" y="5577840"/>
            <a:ext cx="283464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0F9D58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 / RV64E</a:t>
            </a:r>
            <a:endParaRPr lang="ja-JP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2010→2026 マイルストーン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786384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 Berkeley ／ 2015 Foundation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4206240" y="786384"/>
            <a:ext cx="3703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 RVI ／ 2024 RVA23 批准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786384"/>
            <a:ext cx="37490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 K3 出荷・Ubuntu 26.04 LTS</a:t>
            </a:r>
            <a:endParaRPr lang="ja-JP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3913632"/>
            <a:ext cx="10927080" cy="0"/>
          </a:xfrm>
          <a:prstGeom prst="line">
            <a:avLst/>
          </a:prstGeom>
          <a:noFill/>
          <a:ln w="38100">
            <a:solidFill>
              <a:srgbClr val="1B365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187452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E8F3FF"/>
          </a:solidFill>
          <a:ln w="1397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UC Berkeley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研究開始</a:t>
            </a:r>
            <a:endParaRPr lang="ja-JP" sz="1600" dirty="0"/>
          </a:p>
        </p:txBody>
      </p:sp>
      <p:sp>
        <p:nvSpPr>
          <p:cNvPr id="10" name="Shape 7"/>
          <p:cNvSpPr/>
          <p:nvPr/>
        </p:nvSpPr>
        <p:spPr>
          <a:xfrm>
            <a:off x="1481328" y="3291840"/>
            <a:ext cx="0" cy="621792"/>
          </a:xfrm>
          <a:prstGeom prst="line">
            <a:avLst/>
          </a:prstGeom>
          <a:noFill/>
          <a:ln w="19050">
            <a:solidFill>
              <a:srgbClr val="0B6BC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53312" y="3785616"/>
            <a:ext cx="256032" cy="256032"/>
          </a:xfrm>
          <a:prstGeom prst="ellipse">
            <a:avLst/>
          </a:prstGeom>
          <a:solidFill>
            <a:srgbClr val="0B6BCB"/>
          </a:solidFill>
          <a:ln w="15240">
            <a:solidFill>
              <a:srgbClr val="1B365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3008" y="3785616"/>
            <a:ext cx="256032" cy="256032"/>
          </a:xfrm>
          <a:prstGeom prst="ellipse">
            <a:avLst/>
          </a:prstGeom>
          <a:solidFill>
            <a:srgbClr val="0F9D58"/>
          </a:solidFill>
          <a:ln w="15240">
            <a:solidFill>
              <a:srgbClr val="1B365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21024" y="4041648"/>
            <a:ext cx="0" cy="384048"/>
          </a:xfrm>
          <a:prstGeom prst="line">
            <a:avLst/>
          </a:prstGeom>
          <a:noFill/>
          <a:ln w="19050">
            <a:solidFill>
              <a:srgbClr val="0F9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06040" y="448056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E7F6EE"/>
          </a:solidFill>
          <a:ln w="1397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Foundation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5029200" y="1874520"/>
            <a:ext cx="2148840" cy="1417320"/>
          </a:xfrm>
          <a:prstGeom prst="roundRect">
            <a:avLst>
              <a:gd name="adj" fmla="val 6452"/>
            </a:avLst>
          </a:prstGeom>
          <a:solidFill>
            <a:srgbClr val="E8F3FF"/>
          </a:solidFill>
          <a:ln w="1397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RVI として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スイス法人化</a:t>
            </a:r>
            <a:endParaRPr lang="ja-JP" sz="1600" dirty="0"/>
          </a:p>
        </p:txBody>
      </p:sp>
      <p:sp>
        <p:nvSpPr>
          <p:cNvPr id="16" name="Shape 13"/>
          <p:cNvSpPr/>
          <p:nvPr/>
        </p:nvSpPr>
        <p:spPr>
          <a:xfrm>
            <a:off x="6099048" y="3291840"/>
            <a:ext cx="0" cy="621792"/>
          </a:xfrm>
          <a:prstGeom prst="line">
            <a:avLst/>
          </a:prstGeom>
          <a:noFill/>
          <a:ln w="19050">
            <a:solidFill>
              <a:srgbClr val="0B6B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71032" y="3785616"/>
            <a:ext cx="256032" cy="256032"/>
          </a:xfrm>
          <a:prstGeom prst="ellipse">
            <a:avLst/>
          </a:prstGeom>
          <a:solidFill>
            <a:srgbClr val="0B6BCB"/>
          </a:solidFill>
          <a:ln w="15240">
            <a:solidFill>
              <a:srgbClr val="1B365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56448" y="3785616"/>
            <a:ext cx="256032" cy="256032"/>
          </a:xfrm>
          <a:prstGeom prst="ellipse">
            <a:avLst/>
          </a:prstGeom>
          <a:solidFill>
            <a:srgbClr val="C97800"/>
          </a:solidFill>
          <a:ln w="15240">
            <a:solidFill>
              <a:srgbClr val="1B365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84464" y="4041648"/>
            <a:ext cx="0" cy="384048"/>
          </a:xfrm>
          <a:prstGeom prst="line">
            <a:avLst/>
          </a:prstGeom>
          <a:noFill/>
          <a:ln w="19050">
            <a:solidFill>
              <a:srgbClr val="C9780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178040" y="4480560"/>
            <a:ext cx="2240280" cy="1417320"/>
          </a:xfrm>
          <a:prstGeom prst="roundRect">
            <a:avLst>
              <a:gd name="adj" fmla="val 6452"/>
            </a:avLst>
          </a:prstGeom>
          <a:solidFill>
            <a:srgbClr val="FFF4E5"/>
          </a:solidFill>
          <a:ln w="1397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2024-10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RVA23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プロファイル批准</a:t>
            </a:r>
            <a:endParaRPr lang="ja-JP" sz="1600" dirty="0"/>
          </a:p>
        </p:txBody>
      </p:sp>
      <p:sp>
        <p:nvSpPr>
          <p:cNvPr id="21" name="Text 18"/>
          <p:cNvSpPr/>
          <p:nvPr/>
        </p:nvSpPr>
        <p:spPr>
          <a:xfrm>
            <a:off x="9601200" y="1874520"/>
            <a:ext cx="2194560" cy="1417320"/>
          </a:xfrm>
          <a:prstGeom prst="roundRect">
            <a:avLst>
              <a:gd name="adj" fmla="val 6452"/>
            </a:avLst>
          </a:prstGeom>
          <a:solidFill>
            <a:srgbClr val="F3EEFF"/>
          </a:solidFill>
          <a:ln w="1397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K3 出荷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Ubuntu 26.04</a:t>
            </a:r>
            <a:endParaRPr lang="ja-JP" sz="1600" dirty="0"/>
          </a:p>
        </p:txBody>
      </p:sp>
      <p:sp>
        <p:nvSpPr>
          <p:cNvPr id="22" name="Shape 19"/>
          <p:cNvSpPr/>
          <p:nvPr/>
        </p:nvSpPr>
        <p:spPr>
          <a:xfrm>
            <a:off x="10698480" y="3291840"/>
            <a:ext cx="0" cy="621792"/>
          </a:xfrm>
          <a:prstGeom prst="line">
            <a:avLst/>
          </a:prstGeom>
          <a:noFill/>
          <a:ln w="19050">
            <a:solidFill>
              <a:srgbClr val="7C3AE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570464" y="3785616"/>
            <a:ext cx="256032" cy="256032"/>
          </a:xfrm>
          <a:prstGeom prst="ellipse">
            <a:avLst/>
          </a:prstGeom>
          <a:solidFill>
            <a:srgbClr val="7C3AED"/>
          </a:solidFill>
          <a:ln w="15240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113385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2026年＝RVA23ハードウェア元年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365760" y="868680"/>
            <a:ext cx="56235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量産 RVA23 SoC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SpacemiT K3 が出荷（2026-04）。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Ubuntu 26.04 LTS が RVA23 を必須ベースラインにした初の主要 LTS。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6172200" y="868680"/>
            <a:ext cx="56235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CUDA on RISC-V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NVIDIA がホスト対応を表明。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2026-08、SiFive BigSky 上で CUDA が動作。</a:t>
            </a:r>
            <a:endParaRPr lang="ja-JP" sz="1800" dirty="0"/>
          </a:p>
        </p:txBody>
      </p:sp>
      <p:sp>
        <p:nvSpPr>
          <p:cNvPr id="7" name="Text 4"/>
          <p:cNvSpPr/>
          <p:nvPr/>
        </p:nvSpPr>
        <p:spPr>
          <a:xfrm>
            <a:off x="365760" y="3520440"/>
            <a:ext cx="562356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資金と買収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Qualcomm が Ventana を買収（2025-12）。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SiFive は評価額約 36.5 億ドル（2026-04）。</a:t>
            </a:r>
            <a:endParaRPr lang="ja-JP" sz="1800" dirty="0"/>
          </a:p>
        </p:txBody>
      </p:sp>
      <p:sp>
        <p:nvSpPr>
          <p:cNvPr id="8" name="Text 5"/>
          <p:cNvSpPr/>
          <p:nvPr/>
        </p:nvSpPr>
        <p:spPr>
          <a:xfrm>
            <a:off x="6172200" y="3520440"/>
            <a:ext cx="5623560" cy="2606040"/>
          </a:xfrm>
          <a:prstGeom prst="roundRect">
            <a:avLst>
              <a:gd name="adj" fmla="val 4211"/>
            </a:avLst>
          </a:prstGeom>
          <a:solidFill>
            <a:srgbClr val="E8F3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まだ弱いところ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Android の NDK ABI は未確定。</a:t>
            </a:r>
            <a:endParaRPr lang="ja-JP" sz="1800" dirty="0"/>
          </a:p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汎用サーバーの量産展開は黎明期。</a:t>
            </a:r>
            <a:endParaRPr lang="ja-JP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768096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RISC-V市場予測（SHD Group 2026）</a:t>
            </a:r>
            <a:endParaRPr lang="ja-JP" sz="2600" dirty="0"/>
          </a:p>
        </p:txBody>
      </p:sp>
      <p:sp>
        <p:nvSpPr>
          <p:cNvPr id="5" name="Text 2"/>
          <p:cNvSpPr/>
          <p:nvPr/>
        </p:nvSpPr>
        <p:spPr>
          <a:xfrm>
            <a:off x="7955280" y="73152"/>
            <a:ext cx="3840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実績〜2024 ／ 予測2025〜</a:t>
            </a:r>
            <a:endParaRPr lang="ja-JP" sz="1600" dirty="0"/>
          </a:p>
        </p:txBody>
      </p:sp>
      <p:sp>
        <p:nvSpPr>
          <p:cNvPr id="6" name="Text 3"/>
          <p:cNvSpPr/>
          <p:nvPr/>
        </p:nvSpPr>
        <p:spPr>
          <a:xfrm>
            <a:off x="365760" y="749808"/>
            <a:ext cx="37033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出荷 360億個  CAGR 31.7%</a:t>
            </a:r>
            <a:endParaRPr lang="ja-JP" sz="1500" dirty="0"/>
          </a:p>
        </p:txBody>
      </p:sp>
      <p:sp>
        <p:nvSpPr>
          <p:cNvPr id="7" name="Text 4"/>
          <p:cNvSpPr/>
          <p:nvPr/>
        </p:nvSpPr>
        <p:spPr>
          <a:xfrm>
            <a:off x="4206240" y="749808"/>
            <a:ext cx="37033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売上 3,180億ドル  CAGR 22.5%</a:t>
            </a:r>
            <a:endParaRPr lang="ja-JP" sz="1500" dirty="0"/>
          </a:p>
        </p:txBody>
      </p:sp>
      <p:sp>
        <p:nvSpPr>
          <p:cNvPr id="8" name="Text 5"/>
          <p:cNvSpPr/>
          <p:nvPr/>
        </p:nvSpPr>
        <p:spPr>
          <a:xfrm>
            <a:off x="8046720" y="749808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普及率 約33%（折れ線）</a:t>
            </a:r>
            <a:endParaRPr lang="ja-JP" sz="1500" dirty="0"/>
          </a:p>
        </p:txBody>
      </p:sp>
      <p:sp>
        <p:nvSpPr>
          <p:cNvPr id="9" name="Shape 6"/>
          <p:cNvSpPr/>
          <p:nvPr/>
        </p:nvSpPr>
        <p:spPr>
          <a:xfrm>
            <a:off x="320040" y="1481328"/>
            <a:ext cx="5742432" cy="4370832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2700">
            <a:solidFill>
              <a:srgbClr val="C5CD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44768" y="1481328"/>
            <a:ext cx="5669280" cy="4370832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2700">
            <a:solidFill>
              <a:srgbClr val="C5CD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554480"/>
            <a:ext cx="3840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出荷数（億個）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3383280" y="1554480"/>
            <a:ext cx="24688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折れ線＝普及率</a:t>
            </a:r>
            <a:endParaRPr lang="ja-JP" sz="1400" dirty="0"/>
          </a:p>
        </p:txBody>
      </p:sp>
      <p:sp>
        <p:nvSpPr>
          <p:cNvPr id="13" name="Text 10"/>
          <p:cNvSpPr/>
          <p:nvPr/>
        </p:nvSpPr>
        <p:spPr>
          <a:xfrm>
            <a:off x="6291072" y="1554480"/>
            <a:ext cx="38404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売上（10億ドル）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9189720" y="1554480"/>
            <a:ext cx="242316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折れ線＝普及率</a:t>
            </a:r>
            <a:endParaRPr lang="ja-JP" sz="1400" dirty="0"/>
          </a:p>
        </p:txBody>
      </p:sp>
      <p:sp>
        <p:nvSpPr>
          <p:cNvPr id="15" name="Shape 12"/>
          <p:cNvSpPr/>
          <p:nvPr/>
        </p:nvSpPr>
        <p:spPr>
          <a:xfrm>
            <a:off x="640080" y="5440680"/>
            <a:ext cx="5166360" cy="0"/>
          </a:xfrm>
          <a:prstGeom prst="line">
            <a:avLst/>
          </a:prstGeom>
          <a:noFill/>
          <a:ln w="17780">
            <a:solidFill>
              <a:srgbClr val="C5CDD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3952" y="5440680"/>
            <a:ext cx="5074920" cy="0"/>
          </a:xfrm>
          <a:prstGeom prst="line">
            <a:avLst/>
          </a:prstGeom>
          <a:noFill/>
          <a:ln w="17780">
            <a:solidFill>
              <a:srgbClr val="C5CDD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5312664"/>
            <a:ext cx="713232" cy="128016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4736592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1.8</a:t>
            </a:r>
            <a:endParaRPr lang="ja-JP" sz="1400" dirty="0"/>
          </a:p>
        </p:txBody>
      </p:sp>
      <p:sp>
        <p:nvSpPr>
          <p:cNvPr id="19" name="Text 16"/>
          <p:cNvSpPr/>
          <p:nvPr/>
        </p:nvSpPr>
        <p:spPr>
          <a:xfrm>
            <a:off x="77724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’22</a:t>
            </a:r>
            <a:endParaRPr lang="ja-JP" sz="1400" dirty="0"/>
          </a:p>
        </p:txBody>
      </p:sp>
      <p:sp>
        <p:nvSpPr>
          <p:cNvPr id="20" name="Shape 17"/>
          <p:cNvSpPr/>
          <p:nvPr/>
        </p:nvSpPr>
        <p:spPr>
          <a:xfrm>
            <a:off x="1920240" y="5120640"/>
            <a:ext cx="713232" cy="32004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21" name="Text 18"/>
          <p:cNvSpPr/>
          <p:nvPr/>
        </p:nvSpPr>
        <p:spPr>
          <a:xfrm>
            <a:off x="1828800" y="4480560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5.0</a:t>
            </a:r>
            <a:endParaRPr lang="ja-JP" sz="1400" dirty="0"/>
          </a:p>
        </p:txBody>
      </p:sp>
      <p:sp>
        <p:nvSpPr>
          <p:cNvPr id="22" name="Text 19"/>
          <p:cNvSpPr/>
          <p:nvPr/>
        </p:nvSpPr>
        <p:spPr>
          <a:xfrm>
            <a:off x="182880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’24</a:t>
            </a:r>
            <a:endParaRPr lang="ja-JP" sz="1400" dirty="0"/>
          </a:p>
        </p:txBody>
      </p:sp>
      <p:sp>
        <p:nvSpPr>
          <p:cNvPr id="23" name="Shape 20"/>
          <p:cNvSpPr/>
          <p:nvPr/>
        </p:nvSpPr>
        <p:spPr>
          <a:xfrm>
            <a:off x="2971800" y="4864608"/>
            <a:ext cx="713232" cy="576072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24" name="Text 21"/>
          <p:cNvSpPr/>
          <p:nvPr/>
        </p:nvSpPr>
        <p:spPr>
          <a:xfrm>
            <a:off x="2880360" y="4224528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9.1</a:t>
            </a:r>
            <a:endParaRPr lang="ja-JP" sz="1400" dirty="0"/>
          </a:p>
        </p:txBody>
      </p:sp>
      <p:sp>
        <p:nvSpPr>
          <p:cNvPr id="25" name="Text 22"/>
          <p:cNvSpPr/>
          <p:nvPr/>
        </p:nvSpPr>
        <p:spPr>
          <a:xfrm>
            <a:off x="288036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’26</a:t>
            </a:r>
            <a:endParaRPr lang="ja-JP" sz="1400" dirty="0"/>
          </a:p>
        </p:txBody>
      </p:sp>
      <p:sp>
        <p:nvSpPr>
          <p:cNvPr id="26" name="Shape 23"/>
          <p:cNvSpPr/>
          <p:nvPr/>
        </p:nvSpPr>
        <p:spPr>
          <a:xfrm>
            <a:off x="4023360" y="4535424"/>
            <a:ext cx="713232" cy="905256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27" name="Text 24"/>
          <p:cNvSpPr/>
          <p:nvPr/>
        </p:nvSpPr>
        <p:spPr>
          <a:xfrm>
            <a:off x="3931920" y="4023360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14.3</a:t>
            </a:r>
            <a:endParaRPr lang="ja-JP" sz="1400" dirty="0"/>
          </a:p>
        </p:txBody>
      </p:sp>
      <p:sp>
        <p:nvSpPr>
          <p:cNvPr id="28" name="Text 25"/>
          <p:cNvSpPr/>
          <p:nvPr/>
        </p:nvSpPr>
        <p:spPr>
          <a:xfrm>
            <a:off x="393192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’28</a:t>
            </a:r>
            <a:endParaRPr lang="ja-JP" sz="1400" dirty="0"/>
          </a:p>
        </p:txBody>
      </p:sp>
      <p:sp>
        <p:nvSpPr>
          <p:cNvPr id="29" name="Shape 26"/>
          <p:cNvSpPr/>
          <p:nvPr/>
        </p:nvSpPr>
        <p:spPr>
          <a:xfrm>
            <a:off x="5074920" y="3154680"/>
            <a:ext cx="713232" cy="2286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0" name="Text 27"/>
          <p:cNvSpPr/>
          <p:nvPr/>
        </p:nvSpPr>
        <p:spPr>
          <a:xfrm>
            <a:off x="4937760" y="2852928"/>
            <a:ext cx="987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36.0</a:t>
            </a:r>
            <a:endParaRPr lang="ja-JP" sz="1400" dirty="0"/>
          </a:p>
        </p:txBody>
      </p:sp>
      <p:sp>
        <p:nvSpPr>
          <p:cNvPr id="31" name="Text 28"/>
          <p:cNvSpPr/>
          <p:nvPr/>
        </p:nvSpPr>
        <p:spPr>
          <a:xfrm>
            <a:off x="498348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’31</a:t>
            </a:r>
            <a:endParaRPr lang="ja-JP" sz="1400" dirty="0"/>
          </a:p>
        </p:txBody>
      </p:sp>
      <p:sp>
        <p:nvSpPr>
          <p:cNvPr id="32" name="Shape 29"/>
          <p:cNvSpPr/>
          <p:nvPr/>
        </p:nvSpPr>
        <p:spPr>
          <a:xfrm>
            <a:off x="1225296" y="5184648"/>
            <a:ext cx="1051560" cy="-365760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276856" y="4818888"/>
            <a:ext cx="1051560" cy="-256032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328416" y="4562856"/>
            <a:ext cx="1051560" cy="-173736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79976" y="4389120"/>
            <a:ext cx="1051560" cy="-832104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61288" y="5120640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7" name="Shape 34"/>
          <p:cNvSpPr/>
          <p:nvPr/>
        </p:nvSpPr>
        <p:spPr>
          <a:xfrm>
            <a:off x="2212848" y="4754880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8" name="Shape 35"/>
          <p:cNvSpPr/>
          <p:nvPr/>
        </p:nvSpPr>
        <p:spPr>
          <a:xfrm>
            <a:off x="3264408" y="4498848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9" name="Shape 36"/>
          <p:cNvSpPr/>
          <p:nvPr/>
        </p:nvSpPr>
        <p:spPr>
          <a:xfrm>
            <a:off x="4315968" y="4325112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40" name="Shape 37"/>
          <p:cNvSpPr/>
          <p:nvPr/>
        </p:nvSpPr>
        <p:spPr>
          <a:xfrm>
            <a:off x="5367528" y="3493008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41" name="Text 38"/>
          <p:cNvSpPr/>
          <p:nvPr/>
        </p:nvSpPr>
        <p:spPr>
          <a:xfrm>
            <a:off x="5230368" y="3218688"/>
            <a:ext cx="640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ja-JP" altLang="en-US" sz="14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33%</a:t>
            </a:r>
            <a:endParaRPr lang="ja-JP" sz="1400" dirty="0"/>
          </a:p>
        </p:txBody>
      </p:sp>
      <p:sp>
        <p:nvSpPr>
          <p:cNvPr id="42" name="Shape 39"/>
          <p:cNvSpPr/>
          <p:nvPr/>
        </p:nvSpPr>
        <p:spPr>
          <a:xfrm>
            <a:off x="6766560" y="5312664"/>
            <a:ext cx="713232" cy="128016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3" name="Text 40"/>
          <p:cNvSpPr/>
          <p:nvPr/>
        </p:nvSpPr>
        <p:spPr>
          <a:xfrm>
            <a:off x="6675120" y="4736592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ja-JP" sz="1400" dirty="0"/>
          </a:p>
        </p:txBody>
      </p:sp>
      <p:sp>
        <p:nvSpPr>
          <p:cNvPr id="44" name="Text 41"/>
          <p:cNvSpPr/>
          <p:nvPr/>
        </p:nvSpPr>
        <p:spPr>
          <a:xfrm>
            <a:off x="667512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’22</a:t>
            </a:r>
            <a:endParaRPr lang="ja-JP" sz="1400" dirty="0"/>
          </a:p>
        </p:txBody>
      </p:sp>
      <p:sp>
        <p:nvSpPr>
          <p:cNvPr id="45" name="Shape 42"/>
          <p:cNvSpPr/>
          <p:nvPr/>
        </p:nvSpPr>
        <p:spPr>
          <a:xfrm>
            <a:off x="7818120" y="5065776"/>
            <a:ext cx="713232" cy="37490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6" name="Text 43"/>
          <p:cNvSpPr/>
          <p:nvPr/>
        </p:nvSpPr>
        <p:spPr>
          <a:xfrm>
            <a:off x="7726680" y="4526280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ja-JP" sz="1400" dirty="0"/>
          </a:p>
        </p:txBody>
      </p:sp>
      <p:sp>
        <p:nvSpPr>
          <p:cNvPr id="47" name="Text 44"/>
          <p:cNvSpPr/>
          <p:nvPr/>
        </p:nvSpPr>
        <p:spPr>
          <a:xfrm>
            <a:off x="772668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’24</a:t>
            </a:r>
            <a:endParaRPr lang="ja-JP" sz="1400" dirty="0"/>
          </a:p>
        </p:txBody>
      </p:sp>
      <p:sp>
        <p:nvSpPr>
          <p:cNvPr id="48" name="Shape 45"/>
          <p:cNvSpPr/>
          <p:nvPr/>
        </p:nvSpPr>
        <p:spPr>
          <a:xfrm>
            <a:off x="8869680" y="4572000"/>
            <a:ext cx="713232" cy="868680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9" name="Text 46"/>
          <p:cNvSpPr/>
          <p:nvPr/>
        </p:nvSpPr>
        <p:spPr>
          <a:xfrm>
            <a:off x="8778240" y="4279392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ja-JP" sz="1400" dirty="0"/>
          </a:p>
        </p:txBody>
      </p:sp>
      <p:sp>
        <p:nvSpPr>
          <p:cNvPr id="50" name="Text 47"/>
          <p:cNvSpPr/>
          <p:nvPr/>
        </p:nvSpPr>
        <p:spPr>
          <a:xfrm>
            <a:off x="877824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’26</a:t>
            </a:r>
            <a:endParaRPr lang="ja-JP" sz="1400" dirty="0"/>
          </a:p>
        </p:txBody>
      </p:sp>
      <p:sp>
        <p:nvSpPr>
          <p:cNvPr id="51" name="Shape 48"/>
          <p:cNvSpPr/>
          <p:nvPr/>
        </p:nvSpPr>
        <p:spPr>
          <a:xfrm>
            <a:off x="9921240" y="4206240"/>
            <a:ext cx="713232" cy="1234440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52" name="Text 49"/>
          <p:cNvSpPr/>
          <p:nvPr/>
        </p:nvSpPr>
        <p:spPr>
          <a:xfrm>
            <a:off x="9829800" y="3913632"/>
            <a:ext cx="8961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172</a:t>
            </a:r>
            <a:endParaRPr lang="ja-JP" sz="1400" dirty="0"/>
          </a:p>
        </p:txBody>
      </p:sp>
      <p:sp>
        <p:nvSpPr>
          <p:cNvPr id="53" name="Text 50"/>
          <p:cNvSpPr/>
          <p:nvPr/>
        </p:nvSpPr>
        <p:spPr>
          <a:xfrm>
            <a:off x="982980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’28</a:t>
            </a:r>
            <a:endParaRPr lang="ja-JP" sz="1400" dirty="0"/>
          </a:p>
        </p:txBody>
      </p:sp>
      <p:sp>
        <p:nvSpPr>
          <p:cNvPr id="54" name="Shape 51"/>
          <p:cNvSpPr/>
          <p:nvPr/>
        </p:nvSpPr>
        <p:spPr>
          <a:xfrm>
            <a:off x="10972800" y="3154680"/>
            <a:ext cx="713232" cy="2286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55" name="Text 52"/>
          <p:cNvSpPr/>
          <p:nvPr/>
        </p:nvSpPr>
        <p:spPr>
          <a:xfrm>
            <a:off x="10835640" y="2852928"/>
            <a:ext cx="9875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318</a:t>
            </a:r>
            <a:endParaRPr lang="ja-JP" sz="1400" dirty="0"/>
          </a:p>
        </p:txBody>
      </p:sp>
      <p:sp>
        <p:nvSpPr>
          <p:cNvPr id="56" name="Text 53"/>
          <p:cNvSpPr/>
          <p:nvPr/>
        </p:nvSpPr>
        <p:spPr>
          <a:xfrm>
            <a:off x="10881360" y="5486400"/>
            <a:ext cx="89611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’31</a:t>
            </a:r>
            <a:endParaRPr lang="ja-JP" sz="1400" dirty="0"/>
          </a:p>
        </p:txBody>
      </p:sp>
      <p:sp>
        <p:nvSpPr>
          <p:cNvPr id="57" name="Shape 54"/>
          <p:cNvSpPr/>
          <p:nvPr/>
        </p:nvSpPr>
        <p:spPr>
          <a:xfrm>
            <a:off x="7123176" y="5221224"/>
            <a:ext cx="1051560" cy="-274320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174736" y="4946904"/>
            <a:ext cx="1051560" cy="-356616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226296" y="4590288"/>
            <a:ext cx="1051560" cy="-228600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277856" y="4361688"/>
            <a:ext cx="1051560" cy="-813816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7059168" y="5157216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62" name="Shape 59"/>
          <p:cNvSpPr/>
          <p:nvPr/>
        </p:nvSpPr>
        <p:spPr>
          <a:xfrm>
            <a:off x="8110728" y="4882896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63" name="Shape 60"/>
          <p:cNvSpPr/>
          <p:nvPr/>
        </p:nvSpPr>
        <p:spPr>
          <a:xfrm>
            <a:off x="9162288" y="4526280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64" name="Shape 61"/>
          <p:cNvSpPr/>
          <p:nvPr/>
        </p:nvSpPr>
        <p:spPr>
          <a:xfrm>
            <a:off x="10213848" y="4297680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65" name="Shape 62"/>
          <p:cNvSpPr/>
          <p:nvPr/>
        </p:nvSpPr>
        <p:spPr>
          <a:xfrm>
            <a:off x="11265408" y="3483864"/>
            <a:ext cx="128016" cy="128016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66" name="Text 63"/>
          <p:cNvSpPr/>
          <p:nvPr/>
        </p:nvSpPr>
        <p:spPr>
          <a:xfrm>
            <a:off x="11018520" y="3182112"/>
            <a:ext cx="7315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ja-JP" altLang="en-US" sz="14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33%</a:t>
            </a:r>
            <a:endParaRPr lang="ja-JP" sz="1400" dirty="0"/>
          </a:p>
        </p:txBody>
      </p:sp>
      <p:sp>
        <p:nvSpPr>
          <p:cNvPr id="67" name="Text 64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SHD102-26 Abridged, April 2026, Tables 13–14（公開数値から作図。濃色＝2031）</a:t>
            </a:r>
            <a:endParaRPr lang="ja-JP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411480" y="36576"/>
            <a:ext cx="7772400" cy="5852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CPU IP売上予測</a:t>
            </a:r>
            <a:endParaRPr lang="ja-JP" sz="2800" dirty="0"/>
          </a:p>
        </p:txBody>
      </p:sp>
      <p:sp>
        <p:nvSpPr>
          <p:cNvPr id="5" name="Text 2"/>
          <p:cNvSpPr/>
          <p:nvPr/>
        </p:nvSpPr>
        <p:spPr>
          <a:xfrm>
            <a:off x="7955280" y="73152"/>
            <a:ext cx="3840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2024 $205M → 2031 $1.91B</a:t>
            </a:r>
            <a:endParaRPr lang="ja-JP" sz="1800" dirty="0"/>
          </a:p>
        </p:txBody>
      </p:sp>
      <p:sp>
        <p:nvSpPr>
          <p:cNvPr id="6" name="Text 3"/>
          <p:cNvSpPr/>
          <p:nvPr/>
        </p:nvSpPr>
        <p:spPr>
          <a:xfrm>
            <a:off x="365760" y="77724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  2.05億ドル（実績）</a:t>
            </a:r>
            <a:endParaRPr lang="ja-JP" sz="1600" dirty="0"/>
          </a:p>
        </p:txBody>
      </p:sp>
      <p:sp>
        <p:nvSpPr>
          <p:cNvPr id="7" name="Text 4"/>
          <p:cNvSpPr/>
          <p:nvPr/>
        </p:nvSpPr>
        <p:spPr>
          <a:xfrm>
            <a:off x="4206240" y="777240"/>
            <a:ext cx="37033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2031年  19.1億ドル（予測）</a:t>
            </a:r>
            <a:endParaRPr lang="ja-JP" sz="1600" dirty="0"/>
          </a:p>
        </p:txBody>
      </p:sp>
      <p:sp>
        <p:nvSpPr>
          <p:cNvPr id="8" name="Text 5"/>
          <p:cNvSpPr/>
          <p:nvPr/>
        </p:nvSpPr>
        <p:spPr>
          <a:xfrm>
            <a:off x="8046720" y="777240"/>
            <a:ext cx="37490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 39.7%（2025–31）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365760" y="1426464"/>
            <a:ext cx="11430000" cy="4462272"/>
          </a:xfrm>
          <a:prstGeom prst="roundRect">
            <a:avLst>
              <a:gd name="adj" fmla="val 2049"/>
            </a:avLst>
          </a:prstGeom>
          <a:solidFill>
            <a:srgbClr val="FFFFFF"/>
          </a:solidFill>
          <a:ln w="1270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499616"/>
            <a:ext cx="1106424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CPU IP 売上（百万ドル）　濃色バー＝実績、薄色＝予測</a:t>
            </a:r>
            <a:endParaRPr lang="ja-JP" sz="1600" dirty="0"/>
          </a:p>
        </p:txBody>
      </p:sp>
      <p:sp>
        <p:nvSpPr>
          <p:cNvPr id="11" name="Shape 8"/>
          <p:cNvSpPr/>
          <p:nvPr/>
        </p:nvSpPr>
        <p:spPr>
          <a:xfrm>
            <a:off x="914400" y="5532120"/>
            <a:ext cx="10332720" cy="0"/>
          </a:xfrm>
          <a:prstGeom prst="line">
            <a:avLst/>
          </a:prstGeom>
          <a:noFill/>
          <a:ln w="17780">
            <a:solidFill>
              <a:srgbClr val="C5CDD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26280" y="1965960"/>
            <a:ext cx="0" cy="3566160"/>
          </a:xfrm>
          <a:prstGeom prst="line">
            <a:avLst/>
          </a:prstGeom>
          <a:noFill/>
          <a:ln w="15240">
            <a:solidFill>
              <a:srgbClr val="5C6B7A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3246120" y="1938528"/>
            <a:ext cx="11887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</a:t>
            </a:r>
            <a:endParaRPr lang="ja-JP" sz="1400" dirty="0"/>
          </a:p>
        </p:txBody>
      </p:sp>
      <p:sp>
        <p:nvSpPr>
          <p:cNvPr id="14" name="Text 11"/>
          <p:cNvSpPr/>
          <p:nvPr/>
        </p:nvSpPr>
        <p:spPr>
          <a:xfrm>
            <a:off x="4663440" y="1938528"/>
            <a:ext cx="11887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予測</a:t>
            </a:r>
            <a:endParaRPr lang="ja-JP" sz="1400" dirty="0"/>
          </a:p>
        </p:txBody>
      </p:sp>
      <p:sp>
        <p:nvSpPr>
          <p:cNvPr id="15" name="Shape 12"/>
          <p:cNvSpPr/>
          <p:nvPr/>
        </p:nvSpPr>
        <p:spPr>
          <a:xfrm>
            <a:off x="1097280" y="5404104"/>
            <a:ext cx="1417320" cy="128016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16" name="Text 13"/>
          <p:cNvSpPr/>
          <p:nvPr/>
        </p:nvSpPr>
        <p:spPr>
          <a:xfrm>
            <a:off x="1097280" y="5102352"/>
            <a:ext cx="14173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1097280" y="5577840"/>
            <a:ext cx="14173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2022</a:t>
            </a:r>
            <a:endParaRPr lang="ja-JP" sz="1500" dirty="0"/>
          </a:p>
        </p:txBody>
      </p:sp>
      <p:sp>
        <p:nvSpPr>
          <p:cNvPr id="18" name="Shape 15"/>
          <p:cNvSpPr/>
          <p:nvPr/>
        </p:nvSpPr>
        <p:spPr>
          <a:xfrm>
            <a:off x="3108960" y="5221224"/>
            <a:ext cx="1417320" cy="31089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9" name="Text 16"/>
          <p:cNvSpPr/>
          <p:nvPr/>
        </p:nvSpPr>
        <p:spPr>
          <a:xfrm>
            <a:off x="3108960" y="4754880"/>
            <a:ext cx="14173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205</a:t>
            </a:r>
            <a:endParaRPr lang="ja-JP" sz="1600" dirty="0"/>
          </a:p>
        </p:txBody>
      </p:sp>
      <p:sp>
        <p:nvSpPr>
          <p:cNvPr id="20" name="Text 17"/>
          <p:cNvSpPr/>
          <p:nvPr/>
        </p:nvSpPr>
        <p:spPr>
          <a:xfrm>
            <a:off x="3108960" y="5577840"/>
            <a:ext cx="14173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</a:t>
            </a:r>
            <a:endParaRPr lang="ja-JP" sz="1500" dirty="0"/>
          </a:p>
        </p:txBody>
      </p:sp>
      <p:sp>
        <p:nvSpPr>
          <p:cNvPr id="21" name="Shape 18"/>
          <p:cNvSpPr/>
          <p:nvPr/>
        </p:nvSpPr>
        <p:spPr>
          <a:xfrm>
            <a:off x="5120640" y="5029200"/>
            <a:ext cx="1417320" cy="502920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22" name="Text 19"/>
          <p:cNvSpPr/>
          <p:nvPr/>
        </p:nvSpPr>
        <p:spPr>
          <a:xfrm>
            <a:off x="5120640" y="4718304"/>
            <a:ext cx="14173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331</a:t>
            </a:r>
            <a:endParaRPr lang="ja-JP" sz="1600" dirty="0"/>
          </a:p>
        </p:txBody>
      </p:sp>
      <p:sp>
        <p:nvSpPr>
          <p:cNvPr id="23" name="Text 20"/>
          <p:cNvSpPr/>
          <p:nvPr/>
        </p:nvSpPr>
        <p:spPr>
          <a:xfrm>
            <a:off x="5120640" y="5577840"/>
            <a:ext cx="14173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</a:t>
            </a:r>
            <a:endParaRPr lang="ja-JP" sz="1500" dirty="0"/>
          </a:p>
        </p:txBody>
      </p:sp>
      <p:sp>
        <p:nvSpPr>
          <p:cNvPr id="24" name="Shape 21"/>
          <p:cNvSpPr/>
          <p:nvPr/>
        </p:nvSpPr>
        <p:spPr>
          <a:xfrm>
            <a:off x="7132320" y="4608576"/>
            <a:ext cx="1417320" cy="923544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0" y="4297680"/>
            <a:ext cx="14173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602</a:t>
            </a:r>
            <a:endParaRPr lang="ja-JP" sz="1600" dirty="0"/>
          </a:p>
        </p:txBody>
      </p:sp>
      <p:sp>
        <p:nvSpPr>
          <p:cNvPr id="26" name="Text 23"/>
          <p:cNvSpPr/>
          <p:nvPr/>
        </p:nvSpPr>
        <p:spPr>
          <a:xfrm>
            <a:off x="7132320" y="5577840"/>
            <a:ext cx="14173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</a:t>
            </a:r>
            <a:endParaRPr lang="ja-JP" sz="1500" dirty="0"/>
          </a:p>
        </p:txBody>
      </p:sp>
      <p:sp>
        <p:nvSpPr>
          <p:cNvPr id="27" name="Shape 24"/>
          <p:cNvSpPr/>
          <p:nvPr/>
        </p:nvSpPr>
        <p:spPr>
          <a:xfrm>
            <a:off x="9144000" y="2606040"/>
            <a:ext cx="1417320" cy="29260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8" name="Text 25"/>
          <p:cNvSpPr/>
          <p:nvPr/>
        </p:nvSpPr>
        <p:spPr>
          <a:xfrm>
            <a:off x="9006840" y="2267712"/>
            <a:ext cx="169164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1,912</a:t>
            </a:r>
            <a:endParaRPr lang="ja-JP" sz="1800" dirty="0"/>
          </a:p>
        </p:txBody>
      </p:sp>
      <p:sp>
        <p:nvSpPr>
          <p:cNvPr id="29" name="Text 26"/>
          <p:cNvSpPr/>
          <p:nvPr/>
        </p:nvSpPr>
        <p:spPr>
          <a:xfrm>
            <a:off x="9144000" y="5577840"/>
            <a:ext cx="14173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2031</a:t>
            </a:r>
            <a:endParaRPr lang="ja-JP" sz="1500" dirty="0"/>
          </a:p>
        </p:txBody>
      </p:sp>
      <p:sp>
        <p:nvSpPr>
          <p:cNvPr id="30" name="Shape 27"/>
          <p:cNvSpPr/>
          <p:nvPr/>
        </p:nvSpPr>
        <p:spPr>
          <a:xfrm>
            <a:off x="1810512" y="5340096"/>
            <a:ext cx="2011680" cy="-182880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22192" y="5157216"/>
            <a:ext cx="2011680" cy="-192024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833872" y="4965192"/>
            <a:ext cx="2011680" cy="-420624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45552" y="4544568"/>
            <a:ext cx="2011680" cy="-1938528"/>
          </a:xfrm>
          <a:prstGeom prst="line">
            <a:avLst/>
          </a:prstGeom>
          <a:noFill/>
          <a:ln w="27940">
            <a:solidFill>
              <a:srgbClr val="C978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737360" y="5276088"/>
            <a:ext cx="146304" cy="146304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5" name="Shape 32"/>
          <p:cNvSpPr/>
          <p:nvPr/>
        </p:nvSpPr>
        <p:spPr>
          <a:xfrm>
            <a:off x="3749040" y="5084064"/>
            <a:ext cx="146304" cy="146304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6" name="Shape 33"/>
          <p:cNvSpPr/>
          <p:nvPr/>
        </p:nvSpPr>
        <p:spPr>
          <a:xfrm>
            <a:off x="5760720" y="4892040"/>
            <a:ext cx="146304" cy="146304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7" name="Shape 34"/>
          <p:cNvSpPr/>
          <p:nvPr/>
        </p:nvSpPr>
        <p:spPr>
          <a:xfrm>
            <a:off x="7772400" y="4471416"/>
            <a:ext cx="146304" cy="146304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8" name="Shape 35"/>
          <p:cNvSpPr/>
          <p:nvPr/>
        </p:nvSpPr>
        <p:spPr>
          <a:xfrm>
            <a:off x="9784080" y="2532888"/>
            <a:ext cx="146304" cy="146304"/>
          </a:xfrm>
          <a:prstGeom prst="ellipse">
            <a:avLst/>
          </a:prstGeom>
          <a:solidFill>
            <a:srgbClr val="C97800"/>
          </a:solidFill>
          <a:ln/>
        </p:spPr>
      </p:sp>
      <p:sp>
        <p:nvSpPr>
          <p:cNvPr id="39" name="Text 36"/>
          <p:cNvSpPr/>
          <p:nvPr/>
        </p:nvSpPr>
        <p:spPr>
          <a:xfrm>
            <a:off x="411480" y="5961888"/>
            <a:ext cx="1133856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SHD102-26 Abridged, April 2026, Table 32（公開数値から作図）</a:t>
            </a:r>
            <a:endParaRPr lang="ja-JP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875520" y="6419088"/>
            <a:ext cx="201168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ja-JP" altLang="en-US" sz="18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ja-JP" sz="1800" dirty="0"/>
          </a:p>
        </p:txBody>
      </p:sp>
      <p:sp>
        <p:nvSpPr>
          <p:cNvPr id="4" name="Text 1"/>
          <p:cNvSpPr/>
          <p:nvPr/>
        </p:nvSpPr>
        <p:spPr>
          <a:xfrm>
            <a:off x="292608" y="2788920"/>
            <a:ext cx="11612880" cy="1133856"/>
          </a:xfrm>
          <a:prstGeom prst="roundRect">
            <a:avLst>
              <a:gd name="adj" fmla="val 9677"/>
            </a:avLst>
          </a:prstGeom>
          <a:solidFill>
            <a:srgbClr val="E8F3FF"/>
          </a:solidFill>
          <a:ln w="27940">
            <a:solidFill>
              <a:srgbClr val="1B365D"/>
            </a:solidFill>
          </a:ln>
        </p:spPr>
        <p:txBody>
          <a:bodyPr wrap="non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365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2026年、RISC-VはRVA23実機とAIで成長期へ。ただしオープンISA≠無償シリコン、対Armはこれから。</a:t>
            </a:r>
            <a:endParaRPr lang="ja-JP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入門＆市場動向（2026年10月）</dc:title>
  <dc:subject>基礎からSHD予測まで／出典付き</dc:subject>
  <dc:creator>create-slides</dc:creator>
  <cp:lastModifiedBy>create-slides</cp:lastModifiedBy>
  <cp:revision>1</cp:revision>
  <dcterms:created xsi:type="dcterms:W3CDTF">2026-10-06T12:39:18Z</dcterms:created>
  <dcterms:modified xsi:type="dcterms:W3CDTF">2026-10-06T12:39:18Z</dcterms:modified>
</cp:coreProperties>
</file>